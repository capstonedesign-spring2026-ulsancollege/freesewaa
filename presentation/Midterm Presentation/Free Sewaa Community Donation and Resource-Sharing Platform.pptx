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Inter" panose="02000503000000020004" pitchFamily="2" charset="0"/>
      <p:regular r:id="rId18"/>
      <p:bold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1386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34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34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3" Type="http://schemas.openxmlformats.org/officeDocument/2006/relationships/image" Target="../media/image34.png"/><Relationship Id="rId21" Type="http://schemas.openxmlformats.org/officeDocument/2006/relationships/image" Target="../media/image89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23" Type="http://schemas.openxmlformats.org/officeDocument/2006/relationships/image" Target="../media/image91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Relationship Id="rId22" Type="http://schemas.openxmlformats.org/officeDocument/2006/relationships/image" Target="../media/image9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3" Type="http://schemas.openxmlformats.org/officeDocument/2006/relationships/image" Target="../media/image34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5" Type="http://schemas.openxmlformats.org/officeDocument/2006/relationships/image" Target="../media/image10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18" Type="http://schemas.openxmlformats.org/officeDocument/2006/relationships/image" Target="../media/image120.png"/><Relationship Id="rId26" Type="http://schemas.openxmlformats.org/officeDocument/2006/relationships/image" Target="../media/image128.png"/><Relationship Id="rId3" Type="http://schemas.openxmlformats.org/officeDocument/2006/relationships/image" Target="../media/image34.png"/><Relationship Id="rId21" Type="http://schemas.openxmlformats.org/officeDocument/2006/relationships/image" Target="../media/image123.png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17" Type="http://schemas.openxmlformats.org/officeDocument/2006/relationships/image" Target="../media/image119.png"/><Relationship Id="rId25" Type="http://schemas.openxmlformats.org/officeDocument/2006/relationships/image" Target="../media/image127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18.png"/><Relationship Id="rId20" Type="http://schemas.openxmlformats.org/officeDocument/2006/relationships/image" Target="../media/image122.png"/><Relationship Id="rId29" Type="http://schemas.openxmlformats.org/officeDocument/2006/relationships/image" Target="../media/image1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24" Type="http://schemas.openxmlformats.org/officeDocument/2006/relationships/image" Target="../media/image126.png"/><Relationship Id="rId5" Type="http://schemas.openxmlformats.org/officeDocument/2006/relationships/image" Target="../media/image107.png"/><Relationship Id="rId15" Type="http://schemas.openxmlformats.org/officeDocument/2006/relationships/image" Target="../media/image117.png"/><Relationship Id="rId23" Type="http://schemas.openxmlformats.org/officeDocument/2006/relationships/image" Target="../media/image125.png"/><Relationship Id="rId28" Type="http://schemas.openxmlformats.org/officeDocument/2006/relationships/image" Target="../media/image130.png"/><Relationship Id="rId10" Type="http://schemas.openxmlformats.org/officeDocument/2006/relationships/image" Target="../media/image112.png"/><Relationship Id="rId19" Type="http://schemas.openxmlformats.org/officeDocument/2006/relationships/image" Target="../media/image121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Relationship Id="rId14" Type="http://schemas.openxmlformats.org/officeDocument/2006/relationships/image" Target="../media/image116.png"/><Relationship Id="rId22" Type="http://schemas.openxmlformats.org/officeDocument/2006/relationships/image" Target="../media/image124.png"/><Relationship Id="rId27" Type="http://schemas.openxmlformats.org/officeDocument/2006/relationships/image" Target="../media/image1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41.png"/><Relationship Id="rId3" Type="http://schemas.openxmlformats.org/officeDocument/2006/relationships/image" Target="../media/image34.png"/><Relationship Id="rId7" Type="http://schemas.openxmlformats.org/officeDocument/2006/relationships/image" Target="../media/image135.png"/><Relationship Id="rId12" Type="http://schemas.openxmlformats.org/officeDocument/2006/relationships/image" Target="../media/image1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4.png"/><Relationship Id="rId11" Type="http://schemas.openxmlformats.org/officeDocument/2006/relationships/image" Target="../media/image139.png"/><Relationship Id="rId5" Type="http://schemas.openxmlformats.org/officeDocument/2006/relationships/image" Target="../media/image133.png"/><Relationship Id="rId10" Type="http://schemas.openxmlformats.org/officeDocument/2006/relationships/image" Target="../media/image138.png"/><Relationship Id="rId4" Type="http://schemas.openxmlformats.org/officeDocument/2006/relationships/image" Target="../media/image132.png"/><Relationship Id="rId9" Type="http://schemas.openxmlformats.org/officeDocument/2006/relationships/image" Target="../media/image137.png"/><Relationship Id="rId14" Type="http://schemas.openxmlformats.org/officeDocument/2006/relationships/image" Target="../media/image14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152.png"/><Relationship Id="rId18" Type="http://schemas.openxmlformats.org/officeDocument/2006/relationships/image" Target="../media/image157.png"/><Relationship Id="rId3" Type="http://schemas.openxmlformats.org/officeDocument/2006/relationships/image" Target="../media/image143.png"/><Relationship Id="rId21" Type="http://schemas.openxmlformats.org/officeDocument/2006/relationships/image" Target="../media/image160.png"/><Relationship Id="rId7" Type="http://schemas.openxmlformats.org/officeDocument/2006/relationships/image" Target="../media/image146.png"/><Relationship Id="rId12" Type="http://schemas.openxmlformats.org/officeDocument/2006/relationships/image" Target="../media/image151.png"/><Relationship Id="rId17" Type="http://schemas.openxmlformats.org/officeDocument/2006/relationships/image" Target="../media/image156.png"/><Relationship Id="rId25" Type="http://schemas.openxmlformats.org/officeDocument/2006/relationships/image" Target="../media/image164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55.png"/><Relationship Id="rId20" Type="http://schemas.openxmlformats.org/officeDocument/2006/relationships/image" Target="../media/image1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5.png"/><Relationship Id="rId11" Type="http://schemas.openxmlformats.org/officeDocument/2006/relationships/image" Target="../media/image150.png"/><Relationship Id="rId24" Type="http://schemas.openxmlformats.org/officeDocument/2006/relationships/image" Target="../media/image163.png"/><Relationship Id="rId5" Type="http://schemas.openxmlformats.org/officeDocument/2006/relationships/image" Target="../media/image4.png"/><Relationship Id="rId15" Type="http://schemas.openxmlformats.org/officeDocument/2006/relationships/image" Target="../media/image154.png"/><Relationship Id="rId23" Type="http://schemas.openxmlformats.org/officeDocument/2006/relationships/image" Target="../media/image162.png"/><Relationship Id="rId10" Type="http://schemas.openxmlformats.org/officeDocument/2006/relationships/image" Target="../media/image149.png"/><Relationship Id="rId19" Type="http://schemas.openxmlformats.org/officeDocument/2006/relationships/image" Target="../media/image158.png"/><Relationship Id="rId4" Type="http://schemas.openxmlformats.org/officeDocument/2006/relationships/image" Target="../media/image144.png"/><Relationship Id="rId9" Type="http://schemas.openxmlformats.org/officeDocument/2006/relationships/image" Target="../media/image148.png"/><Relationship Id="rId14" Type="http://schemas.openxmlformats.org/officeDocument/2006/relationships/image" Target="../media/image153.png"/><Relationship Id="rId22" Type="http://schemas.openxmlformats.org/officeDocument/2006/relationships/image" Target="../media/image16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13" Type="http://schemas.openxmlformats.org/officeDocument/2006/relationships/image" Target="../media/image173.png"/><Relationship Id="rId18" Type="http://schemas.openxmlformats.org/officeDocument/2006/relationships/image" Target="../media/image178.png"/><Relationship Id="rId3" Type="http://schemas.openxmlformats.org/officeDocument/2006/relationships/image" Target="../media/image143.png"/><Relationship Id="rId7" Type="http://schemas.openxmlformats.org/officeDocument/2006/relationships/image" Target="../media/image167.png"/><Relationship Id="rId12" Type="http://schemas.openxmlformats.org/officeDocument/2006/relationships/image" Target="../media/image172.png"/><Relationship Id="rId17" Type="http://schemas.openxmlformats.org/officeDocument/2006/relationships/image" Target="../media/image177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76.png"/><Relationship Id="rId20" Type="http://schemas.openxmlformats.org/officeDocument/2006/relationships/image" Target="../media/image1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6.png"/><Relationship Id="rId11" Type="http://schemas.openxmlformats.org/officeDocument/2006/relationships/image" Target="../media/image171.png"/><Relationship Id="rId5" Type="http://schemas.openxmlformats.org/officeDocument/2006/relationships/image" Target="../media/image165.png"/><Relationship Id="rId15" Type="http://schemas.openxmlformats.org/officeDocument/2006/relationships/image" Target="../media/image175.png"/><Relationship Id="rId10" Type="http://schemas.openxmlformats.org/officeDocument/2006/relationships/image" Target="../media/image170.png"/><Relationship Id="rId19" Type="http://schemas.openxmlformats.org/officeDocument/2006/relationships/image" Target="../media/image179.png"/><Relationship Id="rId4" Type="http://schemas.openxmlformats.org/officeDocument/2006/relationships/image" Target="../media/image144.png"/><Relationship Id="rId9" Type="http://schemas.openxmlformats.org/officeDocument/2006/relationships/image" Target="../media/image169.png"/><Relationship Id="rId14" Type="http://schemas.openxmlformats.org/officeDocument/2006/relationships/image" Target="../media/image17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90.png"/><Relationship Id="rId18" Type="http://schemas.openxmlformats.org/officeDocument/2006/relationships/image" Target="../media/image195.png"/><Relationship Id="rId3" Type="http://schemas.openxmlformats.org/officeDocument/2006/relationships/image" Target="../media/image34.png"/><Relationship Id="rId21" Type="http://schemas.openxmlformats.org/officeDocument/2006/relationships/image" Target="../media/image198.png"/><Relationship Id="rId7" Type="http://schemas.openxmlformats.org/officeDocument/2006/relationships/image" Target="../media/image184.png"/><Relationship Id="rId12" Type="http://schemas.openxmlformats.org/officeDocument/2006/relationships/image" Target="../media/image189.png"/><Relationship Id="rId17" Type="http://schemas.openxmlformats.org/officeDocument/2006/relationships/image" Target="../media/image194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93.png"/><Relationship Id="rId20" Type="http://schemas.openxmlformats.org/officeDocument/2006/relationships/image" Target="../media/image1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3.png"/><Relationship Id="rId11" Type="http://schemas.openxmlformats.org/officeDocument/2006/relationships/image" Target="../media/image188.png"/><Relationship Id="rId24" Type="http://schemas.openxmlformats.org/officeDocument/2006/relationships/image" Target="../media/image201.png"/><Relationship Id="rId5" Type="http://schemas.openxmlformats.org/officeDocument/2006/relationships/image" Target="../media/image182.png"/><Relationship Id="rId15" Type="http://schemas.openxmlformats.org/officeDocument/2006/relationships/image" Target="../media/image192.png"/><Relationship Id="rId23" Type="http://schemas.openxmlformats.org/officeDocument/2006/relationships/image" Target="../media/image200.png"/><Relationship Id="rId10" Type="http://schemas.openxmlformats.org/officeDocument/2006/relationships/image" Target="../media/image187.png"/><Relationship Id="rId19" Type="http://schemas.openxmlformats.org/officeDocument/2006/relationships/image" Target="../media/image196.png"/><Relationship Id="rId4" Type="http://schemas.openxmlformats.org/officeDocument/2006/relationships/image" Target="../media/image181.png"/><Relationship Id="rId9" Type="http://schemas.openxmlformats.org/officeDocument/2006/relationships/image" Target="../media/image186.png"/><Relationship Id="rId14" Type="http://schemas.openxmlformats.org/officeDocument/2006/relationships/image" Target="../media/image191.png"/><Relationship Id="rId22" Type="http://schemas.openxmlformats.org/officeDocument/2006/relationships/image" Target="../media/image19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png"/><Relationship Id="rId13" Type="http://schemas.openxmlformats.org/officeDocument/2006/relationships/image" Target="../media/image211.png"/><Relationship Id="rId18" Type="http://schemas.openxmlformats.org/officeDocument/2006/relationships/image" Target="../media/image216.png"/><Relationship Id="rId3" Type="http://schemas.openxmlformats.org/officeDocument/2006/relationships/image" Target="../media/image6.png"/><Relationship Id="rId21" Type="http://schemas.openxmlformats.org/officeDocument/2006/relationships/image" Target="../media/image219.png"/><Relationship Id="rId7" Type="http://schemas.openxmlformats.org/officeDocument/2006/relationships/image" Target="../media/image205.png"/><Relationship Id="rId12" Type="http://schemas.openxmlformats.org/officeDocument/2006/relationships/image" Target="../media/image210.png"/><Relationship Id="rId17" Type="http://schemas.openxmlformats.org/officeDocument/2006/relationships/image" Target="../media/image215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14.png"/><Relationship Id="rId20" Type="http://schemas.openxmlformats.org/officeDocument/2006/relationships/image" Target="../media/image2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4.png"/><Relationship Id="rId11" Type="http://schemas.openxmlformats.org/officeDocument/2006/relationships/image" Target="../media/image209.png"/><Relationship Id="rId5" Type="http://schemas.openxmlformats.org/officeDocument/2006/relationships/image" Target="../media/image203.png"/><Relationship Id="rId15" Type="http://schemas.openxmlformats.org/officeDocument/2006/relationships/image" Target="../media/image213.png"/><Relationship Id="rId23" Type="http://schemas.openxmlformats.org/officeDocument/2006/relationships/image" Target="../media/image221.png"/><Relationship Id="rId10" Type="http://schemas.openxmlformats.org/officeDocument/2006/relationships/image" Target="../media/image208.png"/><Relationship Id="rId19" Type="http://schemas.openxmlformats.org/officeDocument/2006/relationships/image" Target="../media/image217.png"/><Relationship Id="rId4" Type="http://schemas.openxmlformats.org/officeDocument/2006/relationships/image" Target="../media/image202.png"/><Relationship Id="rId9" Type="http://schemas.openxmlformats.org/officeDocument/2006/relationships/image" Target="../media/image207.png"/><Relationship Id="rId14" Type="http://schemas.openxmlformats.org/officeDocument/2006/relationships/image" Target="../media/image212.png"/><Relationship Id="rId22" Type="http://schemas.openxmlformats.org/officeDocument/2006/relationships/image" Target="../media/image2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png"/><Relationship Id="rId13" Type="http://schemas.openxmlformats.org/officeDocument/2006/relationships/image" Target="../media/image231.png"/><Relationship Id="rId3" Type="http://schemas.openxmlformats.org/officeDocument/2006/relationships/image" Target="../media/image34.png"/><Relationship Id="rId7" Type="http://schemas.openxmlformats.org/officeDocument/2006/relationships/image" Target="../media/image225.png"/><Relationship Id="rId12" Type="http://schemas.openxmlformats.org/officeDocument/2006/relationships/image" Target="../media/image2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4.png"/><Relationship Id="rId11" Type="http://schemas.openxmlformats.org/officeDocument/2006/relationships/image" Target="../media/image229.png"/><Relationship Id="rId5" Type="http://schemas.openxmlformats.org/officeDocument/2006/relationships/image" Target="../media/image223.png"/><Relationship Id="rId10" Type="http://schemas.openxmlformats.org/officeDocument/2006/relationships/image" Target="../media/image228.png"/><Relationship Id="rId4" Type="http://schemas.openxmlformats.org/officeDocument/2006/relationships/image" Target="../media/image222.png"/><Relationship Id="rId9" Type="http://schemas.openxmlformats.org/officeDocument/2006/relationships/image" Target="../media/image2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0685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3667125"/>
            <a:ext cx="762000" cy="571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762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71500" y="2066925"/>
            <a:ext cx="11049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kern="0" spc="2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CAPSTONE PROJECT PRESENTATION</a:t>
            </a:r>
            <a:endParaRPr lang="en-US" sz="1800" dirty="0"/>
          </a:p>
        </p:txBody>
      </p:sp>
      <p:sp>
        <p:nvSpPr>
          <p:cNvPr id="8" name="Text 1"/>
          <p:cNvSpPr/>
          <p:nvPr/>
        </p:nvSpPr>
        <p:spPr>
          <a:xfrm>
            <a:off x="571500" y="2524125"/>
            <a:ext cx="110490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7200" b="1" kern="0" spc="-144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Sewaa</a:t>
            </a:r>
            <a:endParaRPr lang="en-US" sz="7200" dirty="0"/>
          </a:p>
        </p:txBody>
      </p:sp>
      <p:sp>
        <p:nvSpPr>
          <p:cNvPr id="9" name="Text 2"/>
          <p:cNvSpPr/>
          <p:nvPr/>
        </p:nvSpPr>
        <p:spPr>
          <a:xfrm>
            <a:off x="571500" y="3952875"/>
            <a:ext cx="11049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Donation &amp; Resource-Sharing Platform</a:t>
            </a:r>
            <a:endParaRPr lang="en-US" sz="2700" dirty="0"/>
          </a:p>
        </p:txBody>
      </p:sp>
      <p:sp>
        <p:nvSpPr>
          <p:cNvPr id="10" name="Text 3"/>
          <p:cNvSpPr/>
          <p:nvPr/>
        </p:nvSpPr>
        <p:spPr>
          <a:xfrm>
            <a:off x="571500" y="4486275"/>
            <a:ext cx="11049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"Connecting Givers with Those in Need"</a:t>
            </a:r>
            <a:endParaRPr lang="en-US" sz="1800" dirty="0"/>
          </a:p>
        </p:txBody>
      </p:sp>
      <p:sp>
        <p:nvSpPr>
          <p:cNvPr id="11" name="Text 4"/>
          <p:cNvSpPr/>
          <p:nvPr/>
        </p:nvSpPr>
        <p:spPr>
          <a:xfrm>
            <a:off x="609600" y="5867400"/>
            <a:ext cx="26746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12" name="Text 5"/>
          <p:cNvSpPr/>
          <p:nvPr/>
        </p:nvSpPr>
        <p:spPr>
          <a:xfrm>
            <a:off x="609600" y="6134100"/>
            <a:ext cx="327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13" name="Text 6"/>
          <p:cNvSpPr/>
          <p:nvPr/>
        </p:nvSpPr>
        <p:spPr>
          <a:xfrm>
            <a:off x="8953500" y="5867400"/>
            <a:ext cx="2628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8953500" y="6134100"/>
            <a:ext cx="2628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21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66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545" y="950809"/>
            <a:ext cx="623455" cy="3896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545" y="2541917"/>
            <a:ext cx="5446501" cy="161505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409" y="2697780"/>
            <a:ext cx="389659" cy="38965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588" y="2773987"/>
            <a:ext cx="227301" cy="23714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5819" y="2541917"/>
            <a:ext cx="5446602" cy="161505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1683" y="2697780"/>
            <a:ext cx="389659" cy="389659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3637" y="2778350"/>
            <a:ext cx="285750" cy="228519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9545" y="4416745"/>
            <a:ext cx="5446501" cy="161515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5409" y="4572609"/>
            <a:ext cx="389659" cy="389659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7364" y="4653179"/>
            <a:ext cx="285750" cy="228519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25819" y="4416745"/>
            <a:ext cx="5446602" cy="1615158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81683" y="4572609"/>
            <a:ext cx="389659" cy="389659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46626" y="4651961"/>
            <a:ext cx="259773" cy="230853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519545" y="389659"/>
            <a:ext cx="11672455" cy="4572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to Free Sewaa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519545" y="1301502"/>
            <a:ext cx="11152876" cy="9286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56"/>
              </a:lnSpc>
              <a:buNone/>
            </a:pPr>
            <a:r>
              <a:rPr lang="en-US" sz="22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community-driven web platform designed to connect </a:t>
            </a:r>
            <a:r>
              <a:rPr lang="en-US" sz="225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givers</a:t>
            </a:r>
            <a:r>
              <a:rPr lang="en-US" sz="22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those in </a:t>
            </a:r>
            <a:r>
              <a:rPr lang="en-US" sz="225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</a:t>
            </a:r>
            <a:r>
              <a:rPr lang="en-US" sz="22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fostering a culture of generosity and sustainability.</a:t>
            </a:r>
            <a:endParaRPr lang="en-US" sz="2250" dirty="0"/>
          </a:p>
        </p:txBody>
      </p:sp>
      <p:sp>
        <p:nvSpPr>
          <p:cNvPr id="19" name="Text 2"/>
          <p:cNvSpPr/>
          <p:nvPr/>
        </p:nvSpPr>
        <p:spPr>
          <a:xfrm>
            <a:off x="675409" y="3191349"/>
            <a:ext cx="8851392" cy="2078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36"/>
              </a:lnSpc>
              <a:buNone/>
            </a:pPr>
            <a:r>
              <a:rPr lang="en-US" sz="18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Sustainability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675409" y="3451121"/>
            <a:ext cx="5134774" cy="3636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32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Encouraging the reuse of usable items to reduce local household waste and environmental impact.</a:t>
            </a:r>
            <a:endParaRPr lang="en-US" sz="1500" dirty="0"/>
          </a:p>
        </p:txBody>
      </p:sp>
      <p:sp>
        <p:nvSpPr>
          <p:cNvPr id="21" name="Text 4"/>
          <p:cNvSpPr/>
          <p:nvPr/>
        </p:nvSpPr>
        <p:spPr>
          <a:xfrm>
            <a:off x="6381683" y="3191349"/>
            <a:ext cx="5810317" cy="2078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36"/>
              </a:lnSpc>
              <a:buNone/>
            </a:pPr>
            <a:r>
              <a:rPr lang="en-US" sz="18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Support</a:t>
            </a:r>
            <a:endParaRPr lang="en-US" sz="1800" dirty="0"/>
          </a:p>
        </p:txBody>
      </p:sp>
      <p:sp>
        <p:nvSpPr>
          <p:cNvPr id="22" name="Text 5"/>
          <p:cNvSpPr/>
          <p:nvPr/>
        </p:nvSpPr>
        <p:spPr>
          <a:xfrm>
            <a:off x="6381683" y="3451121"/>
            <a:ext cx="5134875" cy="3636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32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Assisting students and low-income individuals by providing free access to essential resources.</a:t>
            </a:r>
            <a:endParaRPr lang="en-US" sz="1500" dirty="0"/>
          </a:p>
        </p:txBody>
      </p:sp>
      <p:sp>
        <p:nvSpPr>
          <p:cNvPr id="23" name="Text 6"/>
          <p:cNvSpPr/>
          <p:nvPr/>
        </p:nvSpPr>
        <p:spPr>
          <a:xfrm>
            <a:off x="675409" y="5066177"/>
            <a:ext cx="5632704" cy="2078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36"/>
              </a:lnSpc>
              <a:buNone/>
            </a:pPr>
            <a:r>
              <a:rPr lang="en-US" sz="18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Bridge the Gap</a:t>
            </a:r>
            <a:endParaRPr lang="en-US" sz="1800" dirty="0"/>
          </a:p>
        </p:txBody>
      </p:sp>
      <p:sp>
        <p:nvSpPr>
          <p:cNvPr id="24" name="Text 7"/>
          <p:cNvSpPr/>
          <p:nvPr/>
        </p:nvSpPr>
        <p:spPr>
          <a:xfrm>
            <a:off x="675409" y="5325950"/>
            <a:ext cx="5134774" cy="3636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32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Creating a seamless digital link between generous donors and community members in need.</a:t>
            </a:r>
            <a:endParaRPr lang="en-US" sz="1500" dirty="0"/>
          </a:p>
        </p:txBody>
      </p:sp>
      <p:sp>
        <p:nvSpPr>
          <p:cNvPr id="25" name="Text 8"/>
          <p:cNvSpPr/>
          <p:nvPr/>
        </p:nvSpPr>
        <p:spPr>
          <a:xfrm>
            <a:off x="6381683" y="5066177"/>
            <a:ext cx="5810317" cy="2078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36"/>
              </a:lnSpc>
              <a:buNone/>
            </a:pPr>
            <a:r>
              <a:rPr lang="en-US" sz="18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Community-First Approach</a:t>
            </a:r>
            <a:endParaRPr lang="en-US" sz="1800" dirty="0"/>
          </a:p>
        </p:txBody>
      </p:sp>
      <p:sp>
        <p:nvSpPr>
          <p:cNvPr id="26" name="Text 9"/>
          <p:cNvSpPr/>
          <p:nvPr/>
        </p:nvSpPr>
        <p:spPr>
          <a:xfrm>
            <a:off x="6381683" y="5325950"/>
            <a:ext cx="5134875" cy="3636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32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dedicated platform focused purely on free item sharing rather than commercial transactions.</a:t>
            </a:r>
            <a:endParaRPr lang="en-US" sz="1500" dirty="0"/>
          </a:p>
        </p:txBody>
      </p:sp>
      <p:sp>
        <p:nvSpPr>
          <p:cNvPr id="27" name="Text 10"/>
          <p:cNvSpPr/>
          <p:nvPr/>
        </p:nvSpPr>
        <p:spPr>
          <a:xfrm>
            <a:off x="8499033" y="6239721"/>
            <a:ext cx="3173387" cy="2078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432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026" y="1421118"/>
            <a:ext cx="11149950" cy="185605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026" y="3537683"/>
            <a:ext cx="5496820" cy="111308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333" y="3767158"/>
            <a:ext cx="149795" cy="17971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4154" y="3537683"/>
            <a:ext cx="5496821" cy="111308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0462" y="3767463"/>
            <a:ext cx="179001" cy="17900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026" y="4807072"/>
            <a:ext cx="5496820" cy="111308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7333" y="5031459"/>
            <a:ext cx="189788" cy="18978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74154" y="4807072"/>
            <a:ext cx="5496821" cy="111308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30462" y="5040211"/>
            <a:ext cx="189686" cy="172386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1026" y="6128564"/>
            <a:ext cx="11149950" cy="338667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16291" y="6284872"/>
            <a:ext cx="1565417" cy="182359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85914" y="6284872"/>
            <a:ext cx="1285061" cy="182359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521026" y="390769"/>
            <a:ext cx="11670974" cy="4572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17" name="Text 1"/>
          <p:cNvSpPr/>
          <p:nvPr/>
        </p:nvSpPr>
        <p:spPr>
          <a:xfrm>
            <a:off x="521026" y="952195"/>
            <a:ext cx="11670974" cy="2084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41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gap between abundance and necessity</a:t>
            </a:r>
            <a:endParaRPr lang="en-US" sz="1800" dirty="0"/>
          </a:p>
        </p:txBody>
      </p:sp>
      <p:sp>
        <p:nvSpPr>
          <p:cNvPr id="18" name="Text 2"/>
          <p:cNvSpPr/>
          <p:nvPr/>
        </p:nvSpPr>
        <p:spPr>
          <a:xfrm>
            <a:off x="729436" y="1629528"/>
            <a:ext cx="10733129" cy="2084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41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Central Issue:</a:t>
            </a:r>
            <a:endParaRPr lang="en-US" sz="1800" dirty="0"/>
          </a:p>
        </p:txBody>
      </p:sp>
      <p:sp>
        <p:nvSpPr>
          <p:cNvPr id="19" name="Text 3"/>
          <p:cNvSpPr/>
          <p:nvPr/>
        </p:nvSpPr>
        <p:spPr>
          <a:xfrm>
            <a:off x="729436" y="1890041"/>
            <a:ext cx="10733129" cy="11787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94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Usable items are discarded while vulnerable community members struggle to afford basic necessities due to the </a:t>
            </a:r>
            <a:r>
              <a:rPr lang="en-US" sz="2250" b="1" u="sng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a centralized, non-commercial sharing platform.</a:t>
            </a:r>
            <a:endParaRPr lang="en-US" sz="2250" dirty="0"/>
          </a:p>
        </p:txBody>
      </p:sp>
      <p:sp>
        <p:nvSpPr>
          <p:cNvPr id="20" name="Text 4"/>
          <p:cNvSpPr/>
          <p:nvPr/>
        </p:nvSpPr>
        <p:spPr>
          <a:xfrm>
            <a:off x="931333" y="3693991"/>
            <a:ext cx="6352223" cy="1823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36"/>
              </a:lnSpc>
              <a:buNone/>
            </a:pPr>
            <a:r>
              <a:rPr lang="en-US" sz="15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Environmental Waste</a:t>
            </a:r>
            <a:endParaRPr lang="en-US" sz="1500" dirty="0"/>
          </a:p>
        </p:txBody>
      </p:sp>
      <p:sp>
        <p:nvSpPr>
          <p:cNvPr id="21" name="Text 5"/>
          <p:cNvSpPr/>
          <p:nvPr/>
        </p:nvSpPr>
        <p:spPr>
          <a:xfrm>
            <a:off x="931333" y="3902401"/>
            <a:ext cx="4930205" cy="364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36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Perfectly usable household items end up in landfills unnecessarily because donation is "too difficult."</a:t>
            </a:r>
            <a:endParaRPr lang="en-US" sz="1350" dirty="0"/>
          </a:p>
        </p:txBody>
      </p:sp>
      <p:sp>
        <p:nvSpPr>
          <p:cNvPr id="22" name="Text 6"/>
          <p:cNvSpPr/>
          <p:nvPr/>
        </p:nvSpPr>
        <p:spPr>
          <a:xfrm>
            <a:off x="6613668" y="3693991"/>
            <a:ext cx="5349240" cy="1823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36"/>
              </a:lnSpc>
              <a:buNone/>
            </a:pPr>
            <a:r>
              <a:rPr lang="en-US" sz="15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Economic Barrier</a:t>
            </a:r>
            <a:endParaRPr lang="en-US" sz="1500" dirty="0"/>
          </a:p>
        </p:txBody>
      </p:sp>
      <p:sp>
        <p:nvSpPr>
          <p:cNvPr id="23" name="Text 7"/>
          <p:cNvSpPr/>
          <p:nvPr/>
        </p:nvSpPr>
        <p:spPr>
          <a:xfrm>
            <a:off x="6613668" y="3902401"/>
            <a:ext cx="4900999" cy="364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36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and low-income families often cannot afford essential goods like textbooks or furniture.</a:t>
            </a:r>
            <a:endParaRPr lang="en-US" sz="1350" dirty="0"/>
          </a:p>
        </p:txBody>
      </p:sp>
      <p:sp>
        <p:nvSpPr>
          <p:cNvPr id="24" name="Text 8"/>
          <p:cNvSpPr/>
          <p:nvPr/>
        </p:nvSpPr>
        <p:spPr>
          <a:xfrm>
            <a:off x="971326" y="4963380"/>
            <a:ext cx="5014913" cy="1823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36"/>
              </a:lnSpc>
              <a:buNone/>
            </a:pPr>
            <a:r>
              <a:rPr lang="en-US" sz="15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Gap</a:t>
            </a:r>
            <a:endParaRPr lang="en-US" sz="1500" dirty="0"/>
          </a:p>
        </p:txBody>
      </p:sp>
      <p:sp>
        <p:nvSpPr>
          <p:cNvPr id="25" name="Text 9"/>
          <p:cNvSpPr/>
          <p:nvPr/>
        </p:nvSpPr>
        <p:spPr>
          <a:xfrm>
            <a:off x="971326" y="5171790"/>
            <a:ext cx="4890213" cy="364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36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centralized local platform exists to find free resources or notify donors of nearby needs.</a:t>
            </a:r>
            <a:endParaRPr lang="en-US" sz="1350" dirty="0"/>
          </a:p>
        </p:txBody>
      </p:sp>
      <p:sp>
        <p:nvSpPr>
          <p:cNvPr id="26" name="Text 10"/>
          <p:cNvSpPr/>
          <p:nvPr/>
        </p:nvSpPr>
        <p:spPr>
          <a:xfrm>
            <a:off x="6624353" y="4963380"/>
            <a:ext cx="5349240" cy="1823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36"/>
              </a:lnSpc>
              <a:buNone/>
            </a:pPr>
            <a:r>
              <a:rPr lang="en-US" sz="15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Noise</a:t>
            </a:r>
            <a:endParaRPr lang="en-US" sz="1500" dirty="0"/>
          </a:p>
        </p:txBody>
      </p:sp>
      <p:sp>
        <p:nvSpPr>
          <p:cNvPr id="27" name="Text 11"/>
          <p:cNvSpPr/>
          <p:nvPr/>
        </p:nvSpPr>
        <p:spPr>
          <a:xfrm>
            <a:off x="6624353" y="5171790"/>
            <a:ext cx="4890314" cy="364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36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platforms (Marketplace) prioritize commerce, burying free listings under paid advertisements.</a:t>
            </a:r>
            <a:endParaRPr lang="en-US" sz="1350" dirty="0"/>
          </a:p>
        </p:txBody>
      </p:sp>
      <p:sp>
        <p:nvSpPr>
          <p:cNvPr id="28" name="Text 12"/>
          <p:cNvSpPr/>
          <p:nvPr/>
        </p:nvSpPr>
        <p:spPr>
          <a:xfrm>
            <a:off x="521026" y="6284872"/>
            <a:ext cx="11670974" cy="1823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36"/>
              </a:lnSpc>
              <a:buNone/>
            </a:pPr>
            <a:r>
              <a:rPr lang="en-US" sz="135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 community's surplus should be its neighbor's solution."</a:t>
            </a:r>
            <a:endParaRPr lang="en-US" sz="1350" dirty="0"/>
          </a:p>
        </p:txBody>
      </p:sp>
      <p:sp>
        <p:nvSpPr>
          <p:cNvPr id="29" name="Text 13"/>
          <p:cNvSpPr/>
          <p:nvPr/>
        </p:nvSpPr>
        <p:spPr>
          <a:xfrm>
            <a:off x="8794445" y="6284872"/>
            <a:ext cx="2997805" cy="1823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26"/>
              </a:lnSpc>
              <a:buNone/>
            </a:pPr>
            <a:r>
              <a:rPr lang="en-US" sz="1050" b="1" kern="0" spc="6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WASTE REDUCTION</a:t>
            </a:r>
            <a:endParaRPr lang="en-US" sz="1050" dirty="0"/>
          </a:p>
        </p:txBody>
      </p:sp>
      <p:sp>
        <p:nvSpPr>
          <p:cNvPr id="30" name="Text 14"/>
          <p:cNvSpPr/>
          <p:nvPr/>
        </p:nvSpPr>
        <p:spPr>
          <a:xfrm>
            <a:off x="10464067" y="6284872"/>
            <a:ext cx="1727933" cy="1823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26"/>
              </a:lnSpc>
              <a:buNone/>
            </a:pPr>
            <a:r>
              <a:rPr lang="en-US" sz="1050" b="1" kern="0" spc="6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EQUITY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47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47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143" y="1413763"/>
            <a:ext cx="987429" cy="4628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143" y="1768621"/>
            <a:ext cx="5355401" cy="127358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000" y="2108170"/>
            <a:ext cx="305920" cy="24468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9402" y="1768621"/>
            <a:ext cx="5355401" cy="127358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6259" y="2094670"/>
            <a:ext cx="264094" cy="27156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143" y="3289058"/>
            <a:ext cx="5355401" cy="127358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4000" y="3624388"/>
            <a:ext cx="281330" cy="2531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9402" y="3289058"/>
            <a:ext cx="5355401" cy="127358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66259" y="3608960"/>
            <a:ext cx="354857" cy="28386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143" y="5654571"/>
            <a:ext cx="10957660" cy="74057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4000" y="5909143"/>
            <a:ext cx="231429" cy="231428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81259" y="5909143"/>
            <a:ext cx="231428" cy="231428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60517" y="5909143"/>
            <a:ext cx="231429" cy="231428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617143" y="462857"/>
            <a:ext cx="11516112" cy="4571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Solution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617143" y="1043478"/>
            <a:ext cx="11574857" cy="2468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44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Centralized Digital Hub for Community Generosity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1355062" y="2015478"/>
            <a:ext cx="4741921" cy="2468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44"/>
              </a:lnSpc>
              <a:buNone/>
            </a:pPr>
            <a:r>
              <a:rPr lang="en-US" sz="18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Donations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1355062" y="2324049"/>
            <a:ext cx="4370625" cy="4712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56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Easily list usable items with descriptions and photos to reach local neighbors.</a:t>
            </a:r>
            <a:endParaRPr lang="en-US" sz="1350" dirty="0"/>
          </a:p>
        </p:txBody>
      </p:sp>
      <p:sp>
        <p:nvSpPr>
          <p:cNvPr id="21" name="Text 4"/>
          <p:cNvSpPr/>
          <p:nvPr/>
        </p:nvSpPr>
        <p:spPr>
          <a:xfrm>
            <a:off x="6915495" y="2015478"/>
            <a:ext cx="5080629" cy="2468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44"/>
              </a:lnSpc>
              <a:buNone/>
            </a:pPr>
            <a:r>
              <a:rPr lang="en-US" sz="18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 &amp; Search</a:t>
            </a:r>
            <a:endParaRPr lang="en-US" sz="1800" dirty="0"/>
          </a:p>
        </p:txBody>
      </p:sp>
      <p:sp>
        <p:nvSpPr>
          <p:cNvPr id="22" name="Text 5"/>
          <p:cNvSpPr/>
          <p:nvPr/>
        </p:nvSpPr>
        <p:spPr>
          <a:xfrm>
            <a:off x="6915495" y="2324049"/>
            <a:ext cx="4412450" cy="4712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56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available resources nearby using smart categories and filters.</a:t>
            </a:r>
            <a:endParaRPr lang="en-US" sz="1350" dirty="0"/>
          </a:p>
        </p:txBody>
      </p:sp>
      <p:sp>
        <p:nvSpPr>
          <p:cNvPr id="23" name="Text 6"/>
          <p:cNvSpPr/>
          <p:nvPr/>
        </p:nvSpPr>
        <p:spPr>
          <a:xfrm>
            <a:off x="1330473" y="3535915"/>
            <a:ext cx="4403212" cy="2468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44"/>
              </a:lnSpc>
              <a:buNone/>
            </a:pPr>
            <a:r>
              <a:rPr lang="en-US" sz="18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Items</a:t>
            </a:r>
            <a:endParaRPr lang="en-US" sz="1800" dirty="0"/>
          </a:p>
        </p:txBody>
      </p:sp>
      <p:sp>
        <p:nvSpPr>
          <p:cNvPr id="24" name="Text 7"/>
          <p:cNvSpPr/>
          <p:nvPr/>
        </p:nvSpPr>
        <p:spPr>
          <a:xfrm>
            <a:off x="1330473" y="3844487"/>
            <a:ext cx="4395214" cy="4712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56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Empower receivers to actively seek specific essentials they currently need.</a:t>
            </a:r>
            <a:endParaRPr lang="en-US" sz="1350" dirty="0"/>
          </a:p>
        </p:txBody>
      </p:sp>
      <p:sp>
        <p:nvSpPr>
          <p:cNvPr id="25" name="Text 8"/>
          <p:cNvSpPr/>
          <p:nvPr/>
        </p:nvSpPr>
        <p:spPr>
          <a:xfrm>
            <a:off x="7006258" y="3535915"/>
            <a:ext cx="5185742" cy="2468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44"/>
              </a:lnSpc>
              <a:buNone/>
            </a:pPr>
            <a:r>
              <a:rPr lang="en-US" sz="18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Coordination</a:t>
            </a:r>
            <a:endParaRPr lang="en-US" sz="1800" dirty="0"/>
          </a:p>
        </p:txBody>
      </p:sp>
      <p:sp>
        <p:nvSpPr>
          <p:cNvPr id="26" name="Text 9"/>
          <p:cNvSpPr/>
          <p:nvPr/>
        </p:nvSpPr>
        <p:spPr>
          <a:xfrm>
            <a:off x="7006258" y="3844487"/>
            <a:ext cx="4321687" cy="4712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56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messaging system to arrange safe pickups and drop-offs.</a:t>
            </a:r>
            <a:endParaRPr lang="en-US" sz="1350" dirty="0"/>
          </a:p>
        </p:txBody>
      </p:sp>
      <p:sp>
        <p:nvSpPr>
          <p:cNvPr id="27" name="Text 10"/>
          <p:cNvSpPr/>
          <p:nvPr/>
        </p:nvSpPr>
        <p:spPr>
          <a:xfrm>
            <a:off x="1218857" y="5916857"/>
            <a:ext cx="5645140" cy="216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01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Free Platform</a:t>
            </a:r>
            <a:endParaRPr lang="en-US" sz="1500" dirty="0"/>
          </a:p>
        </p:txBody>
      </p:sp>
      <p:sp>
        <p:nvSpPr>
          <p:cNvPr id="28" name="Text 11"/>
          <p:cNvSpPr/>
          <p:nvPr/>
        </p:nvSpPr>
        <p:spPr>
          <a:xfrm>
            <a:off x="5336116" y="5916857"/>
            <a:ext cx="4798369" cy="216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01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No-Commerce Focus</a:t>
            </a:r>
            <a:endParaRPr lang="en-US" sz="1500" dirty="0"/>
          </a:p>
        </p:txBody>
      </p:sp>
      <p:sp>
        <p:nvSpPr>
          <p:cNvPr id="29" name="Text 12"/>
          <p:cNvSpPr/>
          <p:nvPr/>
        </p:nvSpPr>
        <p:spPr>
          <a:xfrm>
            <a:off x="9615375" y="5916857"/>
            <a:ext cx="2576625" cy="216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01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Driven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27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27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192" y="995038"/>
            <a:ext cx="679430" cy="4246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192" y="1716933"/>
            <a:ext cx="3535493" cy="206096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50" y="2011751"/>
            <a:ext cx="474186" cy="37731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8161" y="1716933"/>
            <a:ext cx="3535493" cy="206096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8019" y="2014073"/>
            <a:ext cx="382180" cy="37255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0131" y="1716933"/>
            <a:ext cx="3535603" cy="206096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59989" y="2011751"/>
            <a:ext cx="474186" cy="37731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192" y="4004370"/>
            <a:ext cx="3535493" cy="206096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6050" y="4301511"/>
            <a:ext cx="382180" cy="372559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8161" y="4004370"/>
            <a:ext cx="3535493" cy="206096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98019" y="4300737"/>
            <a:ext cx="431721" cy="374107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0131" y="4004370"/>
            <a:ext cx="3535603" cy="206096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59989" y="4301511"/>
            <a:ext cx="382180" cy="372559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566192" y="424644"/>
            <a:ext cx="11625808" cy="4571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Objectives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566192" y="1150741"/>
            <a:ext cx="11625808" cy="2264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83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Defining the mission and goals of the Free Sewaa platform.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736050" y="2571418"/>
            <a:ext cx="5845500" cy="1981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60"/>
              </a:lnSpc>
              <a:buNone/>
            </a:pPr>
            <a:r>
              <a:rPr lang="en-US" sz="15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Platform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736050" y="2826205"/>
            <a:ext cx="3195778" cy="70696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56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robust web-based donation platform for community resource sharing.</a:t>
            </a:r>
            <a:endParaRPr lang="en-US" sz="1350" dirty="0"/>
          </a:p>
        </p:txBody>
      </p:sp>
      <p:sp>
        <p:nvSpPr>
          <p:cNvPr id="21" name="Text 4"/>
          <p:cNvSpPr/>
          <p:nvPr/>
        </p:nvSpPr>
        <p:spPr>
          <a:xfrm>
            <a:off x="4498019" y="2571418"/>
            <a:ext cx="5230184" cy="1981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60"/>
              </a:lnSpc>
              <a:buNone/>
            </a:pPr>
            <a:r>
              <a:rPr lang="en-US" sz="15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Interactions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4498019" y="2826205"/>
            <a:ext cx="3195778" cy="70696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56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users to seamlessly post, browse, and request donated items for free.</a:t>
            </a:r>
            <a:endParaRPr lang="en-US" sz="1350" dirty="0"/>
          </a:p>
        </p:txBody>
      </p:sp>
      <p:sp>
        <p:nvSpPr>
          <p:cNvPr id="23" name="Text 6"/>
          <p:cNvSpPr/>
          <p:nvPr/>
        </p:nvSpPr>
        <p:spPr>
          <a:xfrm>
            <a:off x="8259989" y="2571418"/>
            <a:ext cx="3932011" cy="1981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60"/>
              </a:lnSpc>
              <a:buNone/>
            </a:pPr>
            <a:r>
              <a:rPr lang="en-US" sz="15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Communication</a:t>
            </a:r>
            <a:endParaRPr lang="en-US" sz="1500" dirty="0"/>
          </a:p>
        </p:txBody>
      </p:sp>
      <p:sp>
        <p:nvSpPr>
          <p:cNvPr id="24" name="Text 7"/>
          <p:cNvSpPr/>
          <p:nvPr/>
        </p:nvSpPr>
        <p:spPr>
          <a:xfrm>
            <a:off x="8259989" y="2826205"/>
            <a:ext cx="3195887" cy="70696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56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Facilitate efficient dialogue between donors and receivers for item collection.</a:t>
            </a:r>
            <a:endParaRPr lang="en-US" sz="1350" dirty="0"/>
          </a:p>
        </p:txBody>
      </p:sp>
      <p:sp>
        <p:nvSpPr>
          <p:cNvPr id="25" name="Text 8"/>
          <p:cNvSpPr/>
          <p:nvPr/>
        </p:nvSpPr>
        <p:spPr>
          <a:xfrm>
            <a:off x="736050" y="4858856"/>
            <a:ext cx="4614868" cy="1981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60"/>
              </a:lnSpc>
              <a:buNone/>
            </a:pPr>
            <a:r>
              <a:rPr lang="en-US" sz="15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Waste Reduction</a:t>
            </a:r>
            <a:endParaRPr lang="en-US" sz="1500" dirty="0"/>
          </a:p>
        </p:txBody>
      </p:sp>
      <p:sp>
        <p:nvSpPr>
          <p:cNvPr id="26" name="Text 9"/>
          <p:cNvSpPr/>
          <p:nvPr/>
        </p:nvSpPr>
        <p:spPr>
          <a:xfrm>
            <a:off x="736050" y="5113643"/>
            <a:ext cx="3195778" cy="70696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56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sustainability and reuse to decrease local household waste levels.</a:t>
            </a:r>
            <a:endParaRPr lang="en-US" sz="1350" dirty="0"/>
          </a:p>
        </p:txBody>
      </p:sp>
      <p:sp>
        <p:nvSpPr>
          <p:cNvPr id="27" name="Text 10"/>
          <p:cNvSpPr/>
          <p:nvPr/>
        </p:nvSpPr>
        <p:spPr>
          <a:xfrm>
            <a:off x="4498019" y="4858856"/>
            <a:ext cx="5230184" cy="1981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60"/>
              </a:lnSpc>
              <a:buNone/>
            </a:pPr>
            <a:r>
              <a:rPr lang="en-US" sz="15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Support</a:t>
            </a:r>
            <a:endParaRPr lang="en-US" sz="1500" dirty="0"/>
          </a:p>
        </p:txBody>
      </p:sp>
      <p:sp>
        <p:nvSpPr>
          <p:cNvPr id="28" name="Text 11"/>
          <p:cNvSpPr/>
          <p:nvPr/>
        </p:nvSpPr>
        <p:spPr>
          <a:xfrm>
            <a:off x="4498019" y="5113643"/>
            <a:ext cx="3195778" cy="4713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56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essential goods to students and low-income families at no cost.</a:t>
            </a:r>
            <a:endParaRPr lang="en-US" sz="1350" dirty="0"/>
          </a:p>
        </p:txBody>
      </p:sp>
      <p:sp>
        <p:nvSpPr>
          <p:cNvPr id="29" name="Text 12"/>
          <p:cNvSpPr/>
          <p:nvPr/>
        </p:nvSpPr>
        <p:spPr>
          <a:xfrm>
            <a:off x="8259989" y="4858856"/>
            <a:ext cx="3932011" cy="1981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60"/>
              </a:lnSpc>
              <a:buNone/>
            </a:pPr>
            <a:r>
              <a:rPr lang="en-US" sz="15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Intuitive Interface</a:t>
            </a:r>
            <a:endParaRPr lang="en-US" sz="1500" dirty="0"/>
          </a:p>
        </p:txBody>
      </p:sp>
      <p:sp>
        <p:nvSpPr>
          <p:cNvPr id="30" name="Text 13"/>
          <p:cNvSpPr/>
          <p:nvPr/>
        </p:nvSpPr>
        <p:spPr>
          <a:xfrm>
            <a:off x="8259989" y="5113643"/>
            <a:ext cx="3195887" cy="4713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56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 a clean, accessible, and user-friendly experience for all skill levels.</a:t>
            </a:r>
            <a:endParaRPr lang="en-US" sz="1350" dirty="0"/>
          </a:p>
        </p:txBody>
      </p:sp>
      <p:sp>
        <p:nvSpPr>
          <p:cNvPr id="31" name="Text 14"/>
          <p:cNvSpPr/>
          <p:nvPr/>
        </p:nvSpPr>
        <p:spPr>
          <a:xfrm>
            <a:off x="566192" y="6291808"/>
            <a:ext cx="7609409" cy="1415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15"/>
              </a:lnSpc>
              <a:buNone/>
            </a:pPr>
            <a:r>
              <a:rPr lang="en-US" sz="1050" b="1" kern="0" spc="5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SEWAA: CAPSTONE 2026</a:t>
            </a:r>
            <a:endParaRPr lang="en-US" sz="1050" dirty="0"/>
          </a:p>
        </p:txBody>
      </p:sp>
      <p:sp>
        <p:nvSpPr>
          <p:cNvPr id="32" name="Text 15"/>
          <p:cNvSpPr/>
          <p:nvPr/>
        </p:nvSpPr>
        <p:spPr>
          <a:xfrm>
            <a:off x="9364505" y="6291808"/>
            <a:ext cx="2827495" cy="1415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15"/>
              </a:lnSpc>
              <a:buNone/>
            </a:pPr>
            <a:r>
              <a:rPr lang="en-US" sz="1050" b="1" kern="0" spc="57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&amp; SUSTAINABILITY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897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897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263" y="1357625"/>
            <a:ext cx="600263" cy="450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263" y="1762802"/>
            <a:ext cx="5375633" cy="200736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68" y="2002907"/>
            <a:ext cx="525230" cy="52523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910" y="2129525"/>
            <a:ext cx="330144" cy="27187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6001" y="1762802"/>
            <a:ext cx="5375632" cy="2007363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6105" y="2002907"/>
            <a:ext cx="525230" cy="52523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8655" y="2129994"/>
            <a:ext cx="300131" cy="27105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0263" y="4010270"/>
            <a:ext cx="5375633" cy="2007363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0368" y="4250375"/>
            <a:ext cx="525230" cy="52523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2917" y="4377462"/>
            <a:ext cx="300131" cy="271056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6001" y="4010270"/>
            <a:ext cx="5375632" cy="2007363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56105" y="4250375"/>
            <a:ext cx="525230" cy="52523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3648" y="4376993"/>
            <a:ext cx="330144" cy="271877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600263" y="450197"/>
            <a:ext cx="10991371" cy="4572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Users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600263" y="997468"/>
            <a:ext cx="11591737" cy="2401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91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our primary community stakeholders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1545676" y="2002907"/>
            <a:ext cx="3481524" cy="2401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91"/>
              </a:lnSpc>
              <a:buNone/>
            </a:pPr>
            <a:r>
              <a:rPr lang="en-US" sz="18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1545676" y="2333052"/>
            <a:ext cx="10447025" cy="210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4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Access to textbooks and study aids</a:t>
            </a:r>
            <a:endParaRPr lang="en-US" sz="1500" dirty="0"/>
          </a:p>
        </p:txBody>
      </p:sp>
      <p:sp>
        <p:nvSpPr>
          <p:cNvPr id="21" name="Text 4"/>
          <p:cNvSpPr/>
          <p:nvPr/>
        </p:nvSpPr>
        <p:spPr>
          <a:xfrm>
            <a:off x="1545676" y="2603170"/>
            <a:ext cx="10646324" cy="210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4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Affordable furniture and kitchenware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1545676" y="2873288"/>
            <a:ext cx="9576439" cy="210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4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Support for campus living needs</a:t>
            </a:r>
            <a:endParaRPr lang="en-US" sz="1500" dirty="0"/>
          </a:p>
        </p:txBody>
      </p:sp>
      <p:sp>
        <p:nvSpPr>
          <p:cNvPr id="23" name="Text 6"/>
          <p:cNvSpPr/>
          <p:nvPr/>
        </p:nvSpPr>
        <p:spPr>
          <a:xfrm>
            <a:off x="7161414" y="2002907"/>
            <a:ext cx="5030586" cy="2401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91"/>
              </a:lnSpc>
              <a:buNone/>
            </a:pPr>
            <a:r>
              <a:rPr lang="en-US" sz="18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Low-Income Individuals</a:t>
            </a:r>
            <a:endParaRPr lang="en-US" sz="1800" dirty="0"/>
          </a:p>
        </p:txBody>
      </p:sp>
      <p:sp>
        <p:nvSpPr>
          <p:cNvPr id="24" name="Text 7"/>
          <p:cNvSpPr/>
          <p:nvPr/>
        </p:nvSpPr>
        <p:spPr>
          <a:xfrm>
            <a:off x="7161414" y="2333052"/>
            <a:ext cx="5030586" cy="210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4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Seeking free essential goods</a:t>
            </a:r>
            <a:endParaRPr lang="en-US" sz="1500" dirty="0"/>
          </a:p>
        </p:txBody>
      </p:sp>
      <p:sp>
        <p:nvSpPr>
          <p:cNvPr id="25" name="Text 8"/>
          <p:cNvSpPr/>
          <p:nvPr/>
        </p:nvSpPr>
        <p:spPr>
          <a:xfrm>
            <a:off x="7161414" y="2603170"/>
            <a:ext cx="5030586" cy="210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4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Reducing financial burden</a:t>
            </a:r>
            <a:endParaRPr lang="en-US" sz="1500" dirty="0"/>
          </a:p>
        </p:txBody>
      </p:sp>
      <p:sp>
        <p:nvSpPr>
          <p:cNvPr id="26" name="Text 9"/>
          <p:cNvSpPr/>
          <p:nvPr/>
        </p:nvSpPr>
        <p:spPr>
          <a:xfrm>
            <a:off x="7161414" y="2873288"/>
            <a:ext cx="5030586" cy="210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4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Access to household necessities</a:t>
            </a:r>
            <a:endParaRPr lang="en-US" sz="1500" dirty="0"/>
          </a:p>
        </p:txBody>
      </p:sp>
      <p:sp>
        <p:nvSpPr>
          <p:cNvPr id="27" name="Text 10"/>
          <p:cNvSpPr/>
          <p:nvPr/>
        </p:nvSpPr>
        <p:spPr>
          <a:xfrm>
            <a:off x="1545676" y="4250375"/>
            <a:ext cx="6268219" cy="2401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91"/>
              </a:lnSpc>
              <a:buNone/>
            </a:pPr>
            <a:r>
              <a:rPr lang="en-US" sz="18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Responsible Donors</a:t>
            </a:r>
            <a:endParaRPr lang="en-US" sz="1800" dirty="0"/>
          </a:p>
        </p:txBody>
      </p:sp>
      <p:sp>
        <p:nvSpPr>
          <p:cNvPr id="28" name="Text 11"/>
          <p:cNvSpPr/>
          <p:nvPr/>
        </p:nvSpPr>
        <p:spPr>
          <a:xfrm>
            <a:off x="1545676" y="4580520"/>
            <a:ext cx="10156829" cy="210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4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Wanting to give away usable items</a:t>
            </a:r>
            <a:endParaRPr lang="en-US" sz="1500" dirty="0"/>
          </a:p>
        </p:txBody>
      </p:sp>
      <p:sp>
        <p:nvSpPr>
          <p:cNvPr id="29" name="Text 12"/>
          <p:cNvSpPr/>
          <p:nvPr/>
        </p:nvSpPr>
        <p:spPr>
          <a:xfrm>
            <a:off x="1545676" y="4850638"/>
            <a:ext cx="8125464" cy="210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4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Promoting reuse over waste</a:t>
            </a:r>
            <a:endParaRPr lang="en-US" sz="1500" dirty="0"/>
          </a:p>
        </p:txBody>
      </p:sp>
      <p:sp>
        <p:nvSpPr>
          <p:cNvPr id="30" name="Text 13"/>
          <p:cNvSpPr/>
          <p:nvPr/>
        </p:nvSpPr>
        <p:spPr>
          <a:xfrm>
            <a:off x="1545676" y="5120756"/>
            <a:ext cx="9286244" cy="210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4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Supporting local social causes</a:t>
            </a:r>
            <a:endParaRPr lang="en-US" sz="1500" dirty="0"/>
          </a:p>
        </p:txBody>
      </p:sp>
      <p:sp>
        <p:nvSpPr>
          <p:cNvPr id="31" name="Text 14"/>
          <p:cNvSpPr/>
          <p:nvPr/>
        </p:nvSpPr>
        <p:spPr>
          <a:xfrm>
            <a:off x="7161414" y="4250375"/>
            <a:ext cx="5030586" cy="2401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91"/>
              </a:lnSpc>
              <a:buNone/>
            </a:pPr>
            <a:r>
              <a:rPr lang="en-US" sz="18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Members</a:t>
            </a:r>
            <a:endParaRPr lang="en-US" sz="1800" dirty="0"/>
          </a:p>
        </p:txBody>
      </p:sp>
      <p:sp>
        <p:nvSpPr>
          <p:cNvPr id="32" name="Text 15"/>
          <p:cNvSpPr/>
          <p:nvPr/>
        </p:nvSpPr>
        <p:spPr>
          <a:xfrm>
            <a:off x="7161414" y="4580520"/>
            <a:ext cx="5030586" cy="210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4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Participation in sustainable sharing</a:t>
            </a:r>
            <a:endParaRPr lang="en-US" sz="1500" dirty="0"/>
          </a:p>
        </p:txBody>
      </p:sp>
      <p:sp>
        <p:nvSpPr>
          <p:cNvPr id="33" name="Text 16"/>
          <p:cNvSpPr/>
          <p:nvPr/>
        </p:nvSpPr>
        <p:spPr>
          <a:xfrm>
            <a:off x="7161414" y="4850638"/>
            <a:ext cx="5030586" cy="210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4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Strengthening local connections</a:t>
            </a:r>
            <a:endParaRPr lang="en-US" sz="1500" dirty="0"/>
          </a:p>
        </p:txBody>
      </p:sp>
      <p:sp>
        <p:nvSpPr>
          <p:cNvPr id="34" name="Text 17"/>
          <p:cNvSpPr/>
          <p:nvPr/>
        </p:nvSpPr>
        <p:spPr>
          <a:xfrm>
            <a:off x="7161414" y="5120756"/>
            <a:ext cx="5030586" cy="210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4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Reducing neighborhood waste</a:t>
            </a:r>
            <a:endParaRPr lang="en-US" sz="1500" dirty="0"/>
          </a:p>
        </p:txBody>
      </p:sp>
      <p:sp>
        <p:nvSpPr>
          <p:cNvPr id="35" name="Text 18"/>
          <p:cNvSpPr/>
          <p:nvPr/>
        </p:nvSpPr>
        <p:spPr>
          <a:xfrm>
            <a:off x="600263" y="6257738"/>
            <a:ext cx="3859589" cy="1500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82"/>
              </a:lnSpc>
              <a:buNone/>
            </a:pPr>
            <a:r>
              <a:rPr lang="en-US" sz="1050" b="1" kern="0" spc="10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SEWAA PLATFORM</a:t>
            </a:r>
            <a:endParaRPr lang="en-US" sz="1050" dirty="0"/>
          </a:p>
        </p:txBody>
      </p:sp>
      <p:sp>
        <p:nvSpPr>
          <p:cNvPr id="36" name="Text 19"/>
          <p:cNvSpPr/>
          <p:nvPr/>
        </p:nvSpPr>
        <p:spPr>
          <a:xfrm>
            <a:off x="9738323" y="6257738"/>
            <a:ext cx="2453677" cy="1500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82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08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08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901" y="999850"/>
            <a:ext cx="602901" cy="4521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901" y="1346518"/>
            <a:ext cx="3501183" cy="221307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771" y="1527389"/>
            <a:ext cx="376813" cy="37681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598" y="1619355"/>
            <a:ext cx="241160" cy="19288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45245" y="1346518"/>
            <a:ext cx="3501301" cy="221307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6115" y="1527389"/>
            <a:ext cx="376813" cy="376813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20319" y="1616646"/>
            <a:ext cx="188407" cy="19829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87706" y="1346518"/>
            <a:ext cx="3501184" cy="221307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68577" y="1527389"/>
            <a:ext cx="376813" cy="376813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62780" y="1616646"/>
            <a:ext cx="188407" cy="198298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2901" y="3800750"/>
            <a:ext cx="3501183" cy="2213189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3771" y="3981620"/>
            <a:ext cx="376813" cy="376813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6670" y="4074057"/>
            <a:ext cx="211015" cy="191821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45245" y="3800750"/>
            <a:ext cx="3501301" cy="2213189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26115" y="3981620"/>
            <a:ext cx="376813" cy="376813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93942" y="4073586"/>
            <a:ext cx="241160" cy="192881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87706" y="3800750"/>
            <a:ext cx="3501184" cy="2213189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68577" y="3981620"/>
            <a:ext cx="376813" cy="376813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51476" y="4074057"/>
            <a:ext cx="211016" cy="191821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602901" y="452176"/>
            <a:ext cx="11589099" cy="4572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Platform Features</a:t>
            </a:r>
            <a:endParaRPr lang="en-US" sz="3600" dirty="0"/>
          </a:p>
        </p:txBody>
      </p:sp>
      <p:sp>
        <p:nvSpPr>
          <p:cNvPr id="24" name="Text 1"/>
          <p:cNvSpPr/>
          <p:nvPr/>
        </p:nvSpPr>
        <p:spPr>
          <a:xfrm>
            <a:off x="783771" y="2024782"/>
            <a:ext cx="6067430" cy="2110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62"/>
              </a:lnSpc>
              <a:buNone/>
            </a:pPr>
            <a:r>
              <a:rPr lang="en-US" sz="15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Authentication</a:t>
            </a:r>
            <a:endParaRPr lang="en-US" sz="1500" dirty="0"/>
          </a:p>
        </p:txBody>
      </p:sp>
      <p:sp>
        <p:nvSpPr>
          <p:cNvPr id="25" name="Text 2"/>
          <p:cNvSpPr/>
          <p:nvPr/>
        </p:nvSpPr>
        <p:spPr>
          <a:xfrm>
            <a:off x="783771" y="2296088"/>
            <a:ext cx="3139443" cy="4220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62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registration and login system for secure account management.</a:t>
            </a:r>
            <a:endParaRPr lang="en-US" sz="1350" dirty="0"/>
          </a:p>
        </p:txBody>
      </p:sp>
      <p:sp>
        <p:nvSpPr>
          <p:cNvPr id="26" name="Text 3"/>
          <p:cNvSpPr/>
          <p:nvPr/>
        </p:nvSpPr>
        <p:spPr>
          <a:xfrm>
            <a:off x="4526115" y="2024782"/>
            <a:ext cx="3467103" cy="2110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62"/>
              </a:lnSpc>
              <a:buNone/>
            </a:pPr>
            <a:r>
              <a:rPr lang="en-US" sz="15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Posting</a:t>
            </a:r>
            <a:endParaRPr lang="en-US" sz="1500" dirty="0"/>
          </a:p>
        </p:txBody>
      </p:sp>
      <p:sp>
        <p:nvSpPr>
          <p:cNvPr id="27" name="Text 4"/>
          <p:cNvSpPr/>
          <p:nvPr/>
        </p:nvSpPr>
        <p:spPr>
          <a:xfrm>
            <a:off x="4526115" y="2296088"/>
            <a:ext cx="3139560" cy="4220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62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Simplified form to list donations with photos and descriptions.</a:t>
            </a:r>
            <a:endParaRPr lang="en-US" sz="1350" dirty="0"/>
          </a:p>
        </p:txBody>
      </p:sp>
      <p:sp>
        <p:nvSpPr>
          <p:cNvPr id="28" name="Text 5"/>
          <p:cNvSpPr/>
          <p:nvPr/>
        </p:nvSpPr>
        <p:spPr>
          <a:xfrm>
            <a:off x="8268577" y="2024782"/>
            <a:ext cx="3923423" cy="2110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62"/>
              </a:lnSpc>
              <a:buNone/>
            </a:pPr>
            <a:r>
              <a:rPr lang="en-US" sz="15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 &amp; Search</a:t>
            </a:r>
            <a:endParaRPr lang="en-US" sz="1500" dirty="0"/>
          </a:p>
        </p:txBody>
      </p:sp>
      <p:sp>
        <p:nvSpPr>
          <p:cNvPr id="29" name="Text 6"/>
          <p:cNvSpPr/>
          <p:nvPr/>
        </p:nvSpPr>
        <p:spPr>
          <a:xfrm>
            <a:off x="8268577" y="2296088"/>
            <a:ext cx="3139443" cy="4220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62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Searchable and filterable grid view of all available community items.</a:t>
            </a:r>
            <a:endParaRPr lang="en-US" sz="1350" dirty="0"/>
          </a:p>
        </p:txBody>
      </p:sp>
      <p:sp>
        <p:nvSpPr>
          <p:cNvPr id="30" name="Text 7"/>
          <p:cNvSpPr/>
          <p:nvPr/>
        </p:nvSpPr>
        <p:spPr>
          <a:xfrm>
            <a:off x="783771" y="4479014"/>
            <a:ext cx="4044954" cy="2110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62"/>
              </a:lnSpc>
              <a:buNone/>
            </a:pPr>
            <a:r>
              <a:rPr lang="en-US" sz="15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System</a:t>
            </a:r>
            <a:endParaRPr lang="en-US" sz="1500" dirty="0"/>
          </a:p>
        </p:txBody>
      </p:sp>
      <p:sp>
        <p:nvSpPr>
          <p:cNvPr id="31" name="Text 8"/>
          <p:cNvSpPr/>
          <p:nvPr/>
        </p:nvSpPr>
        <p:spPr>
          <a:xfrm>
            <a:off x="783771" y="4750319"/>
            <a:ext cx="3139443" cy="4220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62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users to actively request specific essential goods they need.</a:t>
            </a:r>
            <a:endParaRPr lang="en-US" sz="1350" dirty="0"/>
          </a:p>
        </p:txBody>
      </p:sp>
      <p:sp>
        <p:nvSpPr>
          <p:cNvPr id="32" name="Text 9"/>
          <p:cNvSpPr/>
          <p:nvPr/>
        </p:nvSpPr>
        <p:spPr>
          <a:xfrm>
            <a:off x="4526115" y="4479014"/>
            <a:ext cx="5778505" cy="2110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62"/>
              </a:lnSpc>
              <a:buNone/>
            </a:pPr>
            <a:r>
              <a:rPr lang="en-US" sz="15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Communication</a:t>
            </a:r>
            <a:endParaRPr lang="en-US" sz="1500" dirty="0"/>
          </a:p>
        </p:txBody>
      </p:sp>
      <p:sp>
        <p:nvSpPr>
          <p:cNvPr id="33" name="Text 10"/>
          <p:cNvSpPr/>
          <p:nvPr/>
        </p:nvSpPr>
        <p:spPr>
          <a:xfrm>
            <a:off x="4526115" y="4750319"/>
            <a:ext cx="3139560" cy="4220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62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messaging system to arrange pickups and exchange details.</a:t>
            </a:r>
            <a:endParaRPr lang="en-US" sz="1350" dirty="0"/>
          </a:p>
        </p:txBody>
      </p:sp>
      <p:sp>
        <p:nvSpPr>
          <p:cNvPr id="34" name="Text 11"/>
          <p:cNvSpPr/>
          <p:nvPr/>
        </p:nvSpPr>
        <p:spPr>
          <a:xfrm>
            <a:off x="8268577" y="4479014"/>
            <a:ext cx="3923423" cy="2110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62"/>
              </a:lnSpc>
              <a:buNone/>
            </a:pPr>
            <a:r>
              <a:rPr lang="en-US" sz="15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Intuitive Interface</a:t>
            </a:r>
            <a:endParaRPr lang="en-US" sz="1500" dirty="0"/>
          </a:p>
        </p:txBody>
      </p:sp>
      <p:sp>
        <p:nvSpPr>
          <p:cNvPr id="35" name="Text 12"/>
          <p:cNvSpPr/>
          <p:nvPr/>
        </p:nvSpPr>
        <p:spPr>
          <a:xfrm>
            <a:off x="8268577" y="4750319"/>
            <a:ext cx="3139443" cy="4220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62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Clean, responsive, and accessible design for all user demographics.</a:t>
            </a:r>
            <a:endParaRPr lang="en-US" sz="1350" dirty="0"/>
          </a:p>
        </p:txBody>
      </p:sp>
      <p:sp>
        <p:nvSpPr>
          <p:cNvPr id="36" name="Text 13"/>
          <p:cNvSpPr/>
          <p:nvPr/>
        </p:nvSpPr>
        <p:spPr>
          <a:xfrm>
            <a:off x="602901" y="6255099"/>
            <a:ext cx="3842693" cy="150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87"/>
              </a:lnSpc>
              <a:buNone/>
            </a:pPr>
            <a:r>
              <a:rPr lang="en-US" sz="1050" b="1" kern="0" spc="106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SEWAA PLATFORM</a:t>
            </a:r>
            <a:endParaRPr lang="en-US" sz="1050" dirty="0"/>
          </a:p>
        </p:txBody>
      </p:sp>
      <p:sp>
        <p:nvSpPr>
          <p:cNvPr id="37" name="Text 14"/>
          <p:cNvSpPr/>
          <p:nvPr/>
        </p:nvSpPr>
        <p:spPr>
          <a:xfrm>
            <a:off x="10360597" y="6255099"/>
            <a:ext cx="1831403" cy="150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87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Functionalities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893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893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321" y="1406306"/>
            <a:ext cx="734786" cy="4592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321" y="1880855"/>
            <a:ext cx="3492385" cy="270844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2353" y="2125784"/>
            <a:ext cx="612321" cy="61232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7779" y="2290704"/>
            <a:ext cx="321469" cy="28248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3640920"/>
            <a:ext cx="99502" cy="11935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3916465"/>
            <a:ext cx="99502" cy="11935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4192010"/>
            <a:ext cx="99502" cy="11935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49635" y="1880855"/>
            <a:ext cx="3492504" cy="2708446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89666" y="2125784"/>
            <a:ext cx="612321" cy="612321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15958" y="2290943"/>
            <a:ext cx="359739" cy="281883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4563" y="3640920"/>
            <a:ext cx="99502" cy="11935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4563" y="3916465"/>
            <a:ext cx="99502" cy="11935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4563" y="4192010"/>
            <a:ext cx="99502" cy="11935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87067" y="1880855"/>
            <a:ext cx="3492385" cy="2708446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27099" y="2125784"/>
            <a:ext cx="612321" cy="612321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06969" y="2291063"/>
            <a:ext cx="252583" cy="281644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1996" y="3640920"/>
            <a:ext cx="99502" cy="11935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1996" y="3916465"/>
            <a:ext cx="99502" cy="11935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1996" y="4192010"/>
            <a:ext cx="99502" cy="11935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2321" y="4956694"/>
            <a:ext cx="10967250" cy="581705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28522" y="5145533"/>
            <a:ext cx="122464" cy="204027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56338" y="5145533"/>
            <a:ext cx="122465" cy="204027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80173" y="5145533"/>
            <a:ext cx="122465" cy="204027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612321" y="459241"/>
            <a:ext cx="11579679" cy="457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28" name="Text 1"/>
          <p:cNvSpPr/>
          <p:nvPr/>
        </p:nvSpPr>
        <p:spPr>
          <a:xfrm>
            <a:off x="612321" y="1038913"/>
            <a:ext cx="11265421" cy="2449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29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Robust Three-Tier Web Framework</a:t>
            </a:r>
            <a:endParaRPr lang="en-US" sz="1800" dirty="0"/>
          </a:p>
        </p:txBody>
      </p:sp>
      <p:sp>
        <p:nvSpPr>
          <p:cNvPr id="29" name="Text 2"/>
          <p:cNvSpPr/>
          <p:nvPr/>
        </p:nvSpPr>
        <p:spPr>
          <a:xfrm>
            <a:off x="857250" y="2891185"/>
            <a:ext cx="3002527" cy="2449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29"/>
              </a:lnSpc>
              <a:buNone/>
            </a:pPr>
            <a:r>
              <a:rPr lang="en-US" sz="18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 Layer</a:t>
            </a:r>
            <a:endParaRPr lang="en-US" sz="1800" dirty="0"/>
          </a:p>
        </p:txBody>
      </p:sp>
      <p:sp>
        <p:nvSpPr>
          <p:cNvPr id="30" name="Text 3"/>
          <p:cNvSpPr/>
          <p:nvPr/>
        </p:nvSpPr>
        <p:spPr>
          <a:xfrm>
            <a:off x="857250" y="3258578"/>
            <a:ext cx="3002527" cy="2285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React.js</a:t>
            </a:r>
            <a:endParaRPr lang="en-US" sz="1200" dirty="0"/>
          </a:p>
        </p:txBody>
      </p:sp>
      <p:sp>
        <p:nvSpPr>
          <p:cNvPr id="31" name="Text 4"/>
          <p:cNvSpPr/>
          <p:nvPr/>
        </p:nvSpPr>
        <p:spPr>
          <a:xfrm>
            <a:off x="1017984" y="3578971"/>
            <a:ext cx="64008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7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Responsive UI components</a:t>
            </a:r>
            <a:endParaRPr lang="en-US" sz="1350" dirty="0"/>
          </a:p>
        </p:txBody>
      </p:sp>
      <p:sp>
        <p:nvSpPr>
          <p:cNvPr id="32" name="Text 5"/>
          <p:cNvSpPr/>
          <p:nvPr/>
        </p:nvSpPr>
        <p:spPr>
          <a:xfrm>
            <a:off x="1017984" y="3854515"/>
            <a:ext cx="512064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7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Client-side routing</a:t>
            </a:r>
            <a:endParaRPr lang="en-US" sz="1350" dirty="0"/>
          </a:p>
        </p:txBody>
      </p:sp>
      <p:sp>
        <p:nvSpPr>
          <p:cNvPr id="33" name="Text 6"/>
          <p:cNvSpPr/>
          <p:nvPr/>
        </p:nvSpPr>
        <p:spPr>
          <a:xfrm>
            <a:off x="1017984" y="4130060"/>
            <a:ext cx="64008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7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Dynamic state management</a:t>
            </a:r>
            <a:endParaRPr lang="en-US" sz="1350" dirty="0"/>
          </a:p>
        </p:txBody>
      </p:sp>
      <p:sp>
        <p:nvSpPr>
          <p:cNvPr id="34" name="Text 7"/>
          <p:cNvSpPr/>
          <p:nvPr/>
        </p:nvSpPr>
        <p:spPr>
          <a:xfrm>
            <a:off x="4594563" y="2891185"/>
            <a:ext cx="3002648" cy="2449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29"/>
              </a:lnSpc>
              <a:buNone/>
            </a:pPr>
            <a:r>
              <a:rPr lang="en-US" sz="18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Layer</a:t>
            </a:r>
            <a:endParaRPr lang="en-US" sz="1800" dirty="0"/>
          </a:p>
        </p:txBody>
      </p:sp>
      <p:sp>
        <p:nvSpPr>
          <p:cNvPr id="35" name="Text 8"/>
          <p:cNvSpPr/>
          <p:nvPr/>
        </p:nvSpPr>
        <p:spPr>
          <a:xfrm>
            <a:off x="4594563" y="3258578"/>
            <a:ext cx="3002648" cy="2285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/ Express.js</a:t>
            </a:r>
            <a:endParaRPr lang="en-US" sz="1200" dirty="0"/>
          </a:p>
        </p:txBody>
      </p:sp>
      <p:sp>
        <p:nvSpPr>
          <p:cNvPr id="36" name="Text 9"/>
          <p:cNvSpPr/>
          <p:nvPr/>
        </p:nvSpPr>
        <p:spPr>
          <a:xfrm>
            <a:off x="4755298" y="3578971"/>
            <a:ext cx="5632704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7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RESTful API endpoints</a:t>
            </a:r>
            <a:endParaRPr lang="en-US" sz="1350" dirty="0"/>
          </a:p>
        </p:txBody>
      </p:sp>
      <p:sp>
        <p:nvSpPr>
          <p:cNvPr id="37" name="Text 10"/>
          <p:cNvSpPr/>
          <p:nvPr/>
        </p:nvSpPr>
        <p:spPr>
          <a:xfrm>
            <a:off x="4755298" y="3854515"/>
            <a:ext cx="6656832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7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User authentication (JWT)</a:t>
            </a:r>
            <a:endParaRPr lang="en-US" sz="1350" dirty="0"/>
          </a:p>
        </p:txBody>
      </p:sp>
      <p:sp>
        <p:nvSpPr>
          <p:cNvPr id="38" name="Text 11"/>
          <p:cNvSpPr/>
          <p:nvPr/>
        </p:nvSpPr>
        <p:spPr>
          <a:xfrm>
            <a:off x="4755298" y="4130060"/>
            <a:ext cx="6656832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7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Business logic processing</a:t>
            </a:r>
            <a:endParaRPr lang="en-US" sz="1350" dirty="0"/>
          </a:p>
        </p:txBody>
      </p:sp>
      <p:sp>
        <p:nvSpPr>
          <p:cNvPr id="39" name="Text 12"/>
          <p:cNvSpPr/>
          <p:nvPr/>
        </p:nvSpPr>
        <p:spPr>
          <a:xfrm>
            <a:off x="8331996" y="2891185"/>
            <a:ext cx="3002527" cy="2449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29"/>
              </a:lnSpc>
              <a:buNone/>
            </a:pPr>
            <a:r>
              <a:rPr lang="en-US" sz="18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Layer</a:t>
            </a:r>
            <a:endParaRPr lang="en-US" sz="1800" dirty="0"/>
          </a:p>
        </p:txBody>
      </p:sp>
      <p:sp>
        <p:nvSpPr>
          <p:cNvPr id="40" name="Text 13"/>
          <p:cNvSpPr/>
          <p:nvPr/>
        </p:nvSpPr>
        <p:spPr>
          <a:xfrm>
            <a:off x="8331996" y="3258578"/>
            <a:ext cx="3002527" cy="2285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/ MySQL</a:t>
            </a:r>
            <a:endParaRPr lang="en-US" sz="1200" dirty="0"/>
          </a:p>
        </p:txBody>
      </p:sp>
      <p:sp>
        <p:nvSpPr>
          <p:cNvPr id="41" name="Text 14"/>
          <p:cNvSpPr/>
          <p:nvPr/>
        </p:nvSpPr>
        <p:spPr>
          <a:xfrm>
            <a:off x="8492730" y="3578971"/>
            <a:ext cx="369927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7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User profile storage</a:t>
            </a:r>
            <a:endParaRPr lang="en-US" sz="1350" dirty="0"/>
          </a:p>
        </p:txBody>
      </p:sp>
      <p:sp>
        <p:nvSpPr>
          <p:cNvPr id="42" name="Text 15"/>
          <p:cNvSpPr/>
          <p:nvPr/>
        </p:nvSpPr>
        <p:spPr>
          <a:xfrm>
            <a:off x="8492730" y="3854515"/>
            <a:ext cx="369927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7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Item listing management</a:t>
            </a:r>
            <a:endParaRPr lang="en-US" sz="1350" dirty="0"/>
          </a:p>
        </p:txBody>
      </p:sp>
      <p:sp>
        <p:nvSpPr>
          <p:cNvPr id="43" name="Text 16"/>
          <p:cNvSpPr/>
          <p:nvPr/>
        </p:nvSpPr>
        <p:spPr>
          <a:xfrm>
            <a:off x="8492730" y="4130060"/>
            <a:ext cx="369927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7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Messaging data persistence</a:t>
            </a:r>
            <a:endParaRPr lang="en-US" sz="1350" dirty="0"/>
          </a:p>
        </p:txBody>
      </p:sp>
      <p:sp>
        <p:nvSpPr>
          <p:cNvPr id="44" name="Text 17"/>
          <p:cNvSpPr/>
          <p:nvPr/>
        </p:nvSpPr>
        <p:spPr>
          <a:xfrm>
            <a:off x="1736984" y="5140390"/>
            <a:ext cx="4551682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7"/>
              </a:lnSpc>
              <a:buNone/>
            </a:pPr>
            <a:r>
              <a:rPr lang="en-US" sz="1500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Interaction</a:t>
            </a:r>
            <a:endParaRPr lang="en-US" sz="1500" dirty="0"/>
          </a:p>
        </p:txBody>
      </p:sp>
      <p:sp>
        <p:nvSpPr>
          <p:cNvPr id="45" name="Text 18"/>
          <p:cNvSpPr/>
          <p:nvPr/>
        </p:nvSpPr>
        <p:spPr>
          <a:xfrm>
            <a:off x="3795914" y="5140390"/>
            <a:ext cx="4551682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7"/>
              </a:lnSpc>
              <a:buNone/>
            </a:pPr>
            <a:r>
              <a:rPr lang="en-US" sz="1500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(React)</a:t>
            </a:r>
            <a:endParaRPr lang="en-US" sz="1500" dirty="0"/>
          </a:p>
        </p:txBody>
      </p:sp>
      <p:sp>
        <p:nvSpPr>
          <p:cNvPr id="46" name="Text 19"/>
          <p:cNvSpPr/>
          <p:nvPr/>
        </p:nvSpPr>
        <p:spPr>
          <a:xfrm>
            <a:off x="5923731" y="5140390"/>
            <a:ext cx="6268269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7"/>
              </a:lnSpc>
              <a:buNone/>
            </a:pPr>
            <a:r>
              <a:rPr lang="en-US" sz="1500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API (Node/Express)</a:t>
            </a:r>
            <a:endParaRPr lang="en-US" sz="1500" dirty="0"/>
          </a:p>
        </p:txBody>
      </p:sp>
      <p:sp>
        <p:nvSpPr>
          <p:cNvPr id="47" name="Text 20"/>
          <p:cNvSpPr/>
          <p:nvPr/>
        </p:nvSpPr>
        <p:spPr>
          <a:xfrm>
            <a:off x="8847566" y="5140390"/>
            <a:ext cx="3344434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7"/>
              </a:lnSpc>
              <a:buNone/>
            </a:pPr>
            <a:r>
              <a:rPr lang="en-US" sz="1500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Storage</a:t>
            </a:r>
            <a:endParaRPr lang="en-US" sz="1500" dirty="0"/>
          </a:p>
        </p:txBody>
      </p:sp>
      <p:sp>
        <p:nvSpPr>
          <p:cNvPr id="48" name="Text 21"/>
          <p:cNvSpPr/>
          <p:nvPr/>
        </p:nvSpPr>
        <p:spPr>
          <a:xfrm>
            <a:off x="9338260" y="6398759"/>
            <a:ext cx="2853740" cy="1530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5"/>
              </a:lnSpc>
              <a:buNone/>
            </a:pPr>
            <a:r>
              <a:rPr lang="en-US" sz="1050" kern="0" spc="10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LOGIC &amp; DATA FLOW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76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312" y="999048"/>
            <a:ext cx="684374" cy="4277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312" y="1384009"/>
            <a:ext cx="5411613" cy="222365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437" y="1612133"/>
            <a:ext cx="356445" cy="35644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726" y="1698014"/>
            <a:ext cx="213867" cy="184683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437" y="2148026"/>
            <a:ext cx="192480" cy="18278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8437" y="2456351"/>
            <a:ext cx="142578" cy="193483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8437" y="2775146"/>
            <a:ext cx="163965" cy="18323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050" y="1384009"/>
            <a:ext cx="5411614" cy="2223659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174" y="1612133"/>
            <a:ext cx="356445" cy="35644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20157" y="1698905"/>
            <a:ext cx="192480" cy="182789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174" y="2147803"/>
            <a:ext cx="163965" cy="18323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174" y="2461475"/>
            <a:ext cx="163965" cy="18323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174" y="2775146"/>
            <a:ext cx="163965" cy="18323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0312" y="3835793"/>
            <a:ext cx="5411613" cy="222377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8437" y="4063917"/>
            <a:ext cx="356445" cy="35644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0419" y="4150689"/>
            <a:ext cx="192480" cy="182789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8437" y="4598585"/>
            <a:ext cx="185351" cy="185351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98437" y="4913481"/>
            <a:ext cx="192480" cy="182789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8437" y="5227153"/>
            <a:ext cx="192480" cy="182789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10050" y="3835793"/>
            <a:ext cx="5411614" cy="222377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38174" y="4063917"/>
            <a:ext cx="356445" cy="356445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98770" y="4149019"/>
            <a:ext cx="235254" cy="186243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38174" y="4599810"/>
            <a:ext cx="192481" cy="182789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38174" y="4913481"/>
            <a:ext cx="192481" cy="182789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438174" y="5227153"/>
            <a:ext cx="192481" cy="182789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570312" y="427734"/>
            <a:ext cx="11621688" cy="4572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0" name="Text 1"/>
          <p:cNvSpPr/>
          <p:nvPr/>
        </p:nvSpPr>
        <p:spPr>
          <a:xfrm>
            <a:off x="1268944" y="1676294"/>
            <a:ext cx="2932179" cy="22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96"/>
              </a:lnSpc>
              <a:buNone/>
            </a:pPr>
            <a:r>
              <a:rPr lang="en-US" sz="1800" b="1" kern="0" spc="48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800" dirty="0"/>
          </a:p>
        </p:txBody>
      </p:sp>
      <p:sp>
        <p:nvSpPr>
          <p:cNvPr id="31" name="Text 2"/>
          <p:cNvSpPr/>
          <p:nvPr/>
        </p:nvSpPr>
        <p:spPr>
          <a:xfrm>
            <a:off x="1076464" y="2139672"/>
            <a:ext cx="2443478" cy="1996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2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React.js</a:t>
            </a:r>
            <a:endParaRPr lang="en-US" sz="1500" dirty="0"/>
          </a:p>
        </p:txBody>
      </p:sp>
      <p:sp>
        <p:nvSpPr>
          <p:cNvPr id="32" name="Text 3"/>
          <p:cNvSpPr/>
          <p:nvPr/>
        </p:nvSpPr>
        <p:spPr>
          <a:xfrm>
            <a:off x="1026561" y="2453344"/>
            <a:ext cx="4072463" cy="1996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2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HTML5 / CSS3</a:t>
            </a:r>
            <a:endParaRPr lang="en-US" sz="1500" dirty="0"/>
          </a:p>
        </p:txBody>
      </p:sp>
      <p:sp>
        <p:nvSpPr>
          <p:cNvPr id="33" name="Text 4"/>
          <p:cNvSpPr/>
          <p:nvPr/>
        </p:nvSpPr>
        <p:spPr>
          <a:xfrm>
            <a:off x="1047948" y="2767015"/>
            <a:ext cx="5396014" cy="1996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2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 (ES6+)</a:t>
            </a:r>
            <a:endParaRPr lang="en-US" sz="1500" dirty="0"/>
          </a:p>
        </p:txBody>
      </p:sp>
      <p:sp>
        <p:nvSpPr>
          <p:cNvPr id="34" name="Text 5"/>
          <p:cNvSpPr/>
          <p:nvPr/>
        </p:nvSpPr>
        <p:spPr>
          <a:xfrm>
            <a:off x="6908682" y="1676294"/>
            <a:ext cx="5131313" cy="22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96"/>
              </a:lnSpc>
              <a:buNone/>
            </a:pPr>
            <a:r>
              <a:rPr lang="en-US" sz="1800" b="1" kern="0" spc="48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&amp; DATA</a:t>
            </a:r>
            <a:endParaRPr lang="en-US" sz="1800" dirty="0"/>
          </a:p>
        </p:txBody>
      </p:sp>
      <p:sp>
        <p:nvSpPr>
          <p:cNvPr id="35" name="Text 6"/>
          <p:cNvSpPr/>
          <p:nvPr/>
        </p:nvSpPr>
        <p:spPr>
          <a:xfrm>
            <a:off x="6687686" y="2139672"/>
            <a:ext cx="5504314" cy="1996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2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/ Express.js</a:t>
            </a:r>
            <a:endParaRPr lang="en-US" sz="1500" dirty="0"/>
          </a:p>
        </p:txBody>
      </p:sp>
      <p:sp>
        <p:nvSpPr>
          <p:cNvPr id="36" name="Text 7"/>
          <p:cNvSpPr/>
          <p:nvPr/>
        </p:nvSpPr>
        <p:spPr>
          <a:xfrm>
            <a:off x="6687686" y="2453344"/>
            <a:ext cx="4581521" cy="1996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2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/ MySQL</a:t>
            </a:r>
            <a:endParaRPr lang="en-US" sz="1500" dirty="0"/>
          </a:p>
        </p:txBody>
      </p:sp>
      <p:sp>
        <p:nvSpPr>
          <p:cNvPr id="37" name="Text 8"/>
          <p:cNvSpPr/>
          <p:nvPr/>
        </p:nvSpPr>
        <p:spPr>
          <a:xfrm>
            <a:off x="6687686" y="2767015"/>
            <a:ext cx="5504314" cy="1996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2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API Architecture</a:t>
            </a:r>
            <a:endParaRPr lang="en-US" sz="1500" dirty="0"/>
          </a:p>
        </p:txBody>
      </p:sp>
      <p:sp>
        <p:nvSpPr>
          <p:cNvPr id="38" name="Text 9"/>
          <p:cNvSpPr/>
          <p:nvPr/>
        </p:nvSpPr>
        <p:spPr>
          <a:xfrm>
            <a:off x="1268944" y="4128078"/>
            <a:ext cx="3298701" cy="22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96"/>
              </a:lnSpc>
              <a:buNone/>
            </a:pPr>
            <a:r>
              <a:rPr lang="en-US" sz="1800" b="1" kern="0" spc="48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TOOLS</a:t>
            </a:r>
            <a:endParaRPr lang="en-US" sz="1800" dirty="0"/>
          </a:p>
        </p:txBody>
      </p:sp>
      <p:sp>
        <p:nvSpPr>
          <p:cNvPr id="39" name="Text 10"/>
          <p:cNvSpPr/>
          <p:nvPr/>
        </p:nvSpPr>
        <p:spPr>
          <a:xfrm>
            <a:off x="1069335" y="4591456"/>
            <a:ext cx="7330434" cy="1996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2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(Version Control)</a:t>
            </a:r>
            <a:endParaRPr lang="en-US" sz="1500" dirty="0"/>
          </a:p>
        </p:txBody>
      </p:sp>
      <p:sp>
        <p:nvSpPr>
          <p:cNvPr id="40" name="Text 11"/>
          <p:cNvSpPr/>
          <p:nvPr/>
        </p:nvSpPr>
        <p:spPr>
          <a:xfrm>
            <a:off x="1076464" y="4905127"/>
            <a:ext cx="6414130" cy="1996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2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Postman (API Testing)</a:t>
            </a:r>
            <a:endParaRPr lang="en-US" sz="1500" dirty="0"/>
          </a:p>
        </p:txBody>
      </p:sp>
      <p:sp>
        <p:nvSpPr>
          <p:cNvPr id="41" name="Text 12"/>
          <p:cNvSpPr/>
          <p:nvPr/>
        </p:nvSpPr>
        <p:spPr>
          <a:xfrm>
            <a:off x="1076464" y="5218799"/>
            <a:ext cx="6108695" cy="1996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2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Figma (UI/UX Design)</a:t>
            </a:r>
            <a:endParaRPr lang="en-US" sz="1500" dirty="0"/>
          </a:p>
        </p:txBody>
      </p:sp>
      <p:sp>
        <p:nvSpPr>
          <p:cNvPr id="42" name="Text 13"/>
          <p:cNvSpPr/>
          <p:nvPr/>
        </p:nvSpPr>
        <p:spPr>
          <a:xfrm>
            <a:off x="6908682" y="4128078"/>
            <a:ext cx="3665224" cy="22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96"/>
              </a:lnSpc>
              <a:buNone/>
            </a:pPr>
            <a:r>
              <a:rPr lang="en-US" sz="1800" b="1" kern="0" spc="48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43" name="Text 14"/>
          <p:cNvSpPr/>
          <p:nvPr/>
        </p:nvSpPr>
        <p:spPr>
          <a:xfrm>
            <a:off x="6716202" y="4591456"/>
            <a:ext cx="5192391" cy="1996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2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</a:t>
            </a: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(Frontend)</a:t>
            </a:r>
            <a:endParaRPr lang="en-US" sz="1500" dirty="0"/>
          </a:p>
        </p:txBody>
      </p:sp>
      <p:sp>
        <p:nvSpPr>
          <p:cNvPr id="44" name="Text 15"/>
          <p:cNvSpPr/>
          <p:nvPr/>
        </p:nvSpPr>
        <p:spPr>
          <a:xfrm>
            <a:off x="6716202" y="4905127"/>
            <a:ext cx="4955364" cy="1996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2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Render</a:t>
            </a: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(Backend)</a:t>
            </a:r>
            <a:endParaRPr lang="en-US" sz="1500" dirty="0"/>
          </a:p>
        </p:txBody>
      </p:sp>
      <p:sp>
        <p:nvSpPr>
          <p:cNvPr id="45" name="Text 16"/>
          <p:cNvSpPr/>
          <p:nvPr/>
        </p:nvSpPr>
        <p:spPr>
          <a:xfrm>
            <a:off x="6716202" y="5218799"/>
            <a:ext cx="5475798" cy="1996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2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Integration</a:t>
            </a:r>
            <a:endParaRPr lang="en-US" sz="1500" dirty="0"/>
          </a:p>
        </p:txBody>
      </p:sp>
      <p:sp>
        <p:nvSpPr>
          <p:cNvPr id="46" name="Text 17"/>
          <p:cNvSpPr/>
          <p:nvPr/>
        </p:nvSpPr>
        <p:spPr>
          <a:xfrm>
            <a:off x="570312" y="6287688"/>
            <a:ext cx="11051352" cy="1425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123"/>
              </a:lnSpc>
              <a:buNone/>
            </a:pPr>
            <a:r>
              <a:rPr lang="en-US" sz="1050" kern="0" spc="11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SEWAA | MODERN TECH STACK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891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891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75" y="1581958"/>
            <a:ext cx="3480747" cy="388374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337" y="1896348"/>
            <a:ext cx="429601" cy="38175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337" y="2872105"/>
            <a:ext cx="148408" cy="17806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337" y="3434492"/>
            <a:ext cx="148408" cy="17806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337" y="3996879"/>
            <a:ext cx="148408" cy="17806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5572" y="1581958"/>
            <a:ext cx="3480747" cy="3883743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3034" y="1895860"/>
            <a:ext cx="382736" cy="38273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3034" y="2872105"/>
            <a:ext cx="148408" cy="17806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3034" y="3434492"/>
            <a:ext cx="148408" cy="17806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3034" y="3996879"/>
            <a:ext cx="148408" cy="17806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86269" y="1581958"/>
            <a:ext cx="3480747" cy="3883743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3732" y="1895860"/>
            <a:ext cx="382735" cy="382736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3732" y="2872105"/>
            <a:ext cx="148408" cy="17806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3732" y="3434492"/>
            <a:ext cx="148408" cy="17806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3732" y="3996879"/>
            <a:ext cx="148408" cy="17806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75" y="5778138"/>
            <a:ext cx="10942141" cy="611206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337" y="5965600"/>
            <a:ext cx="226517" cy="236281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66477" y="6025159"/>
            <a:ext cx="117164" cy="117164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81697" y="6025159"/>
            <a:ext cx="117164" cy="117164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37616" y="6025159"/>
            <a:ext cx="117164" cy="117164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624875" y="468656"/>
            <a:ext cx="11567125" cy="4571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&amp; Interface Design</a:t>
            </a:r>
            <a:endParaRPr lang="en-US" sz="3600" dirty="0"/>
          </a:p>
        </p:txBody>
      </p:sp>
      <p:sp>
        <p:nvSpPr>
          <p:cNvPr id="25" name="Text 1"/>
          <p:cNvSpPr/>
          <p:nvPr/>
        </p:nvSpPr>
        <p:spPr>
          <a:xfrm>
            <a:off x="624875" y="1019571"/>
            <a:ext cx="11567125" cy="249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68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clean, professional blue-and-white themed visual experience.</a:t>
            </a:r>
            <a:endParaRPr lang="en-US" sz="1800" dirty="0"/>
          </a:p>
        </p:txBody>
      </p:sp>
      <p:sp>
        <p:nvSpPr>
          <p:cNvPr id="26" name="Text 2"/>
          <p:cNvSpPr/>
          <p:nvPr/>
        </p:nvSpPr>
        <p:spPr>
          <a:xfrm>
            <a:off x="812337" y="2465936"/>
            <a:ext cx="4683257" cy="249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68"/>
              </a:lnSpc>
              <a:buNone/>
            </a:pPr>
            <a:r>
              <a:rPr lang="en-US" sz="18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Homepage &amp; Nav</a:t>
            </a:r>
            <a:endParaRPr lang="en-US" sz="1800" dirty="0"/>
          </a:p>
        </p:txBody>
      </p:sp>
      <p:sp>
        <p:nvSpPr>
          <p:cNvPr id="27" name="Text 3"/>
          <p:cNvSpPr/>
          <p:nvPr/>
        </p:nvSpPr>
        <p:spPr>
          <a:xfrm>
            <a:off x="1054476" y="2840861"/>
            <a:ext cx="2863684" cy="4374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22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search bar for quick item discovery.</a:t>
            </a:r>
            <a:endParaRPr lang="en-US" sz="1350" dirty="0"/>
          </a:p>
        </p:txBody>
      </p:sp>
      <p:sp>
        <p:nvSpPr>
          <p:cNvPr id="28" name="Text 4"/>
          <p:cNvSpPr/>
          <p:nvPr/>
        </p:nvSpPr>
        <p:spPr>
          <a:xfrm>
            <a:off x="1054476" y="3403248"/>
            <a:ext cx="2863684" cy="437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22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Featured donation highlights on landing.</a:t>
            </a:r>
            <a:endParaRPr lang="en-US" sz="1350" dirty="0"/>
          </a:p>
        </p:txBody>
      </p:sp>
      <p:sp>
        <p:nvSpPr>
          <p:cNvPr id="29" name="Text 5"/>
          <p:cNvSpPr/>
          <p:nvPr/>
        </p:nvSpPr>
        <p:spPr>
          <a:xfrm>
            <a:off x="1054476" y="3965636"/>
            <a:ext cx="9031986" cy="2187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22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Intuitive top-level navigation menu.</a:t>
            </a:r>
            <a:endParaRPr lang="en-US" sz="1350" dirty="0"/>
          </a:p>
        </p:txBody>
      </p:sp>
      <p:sp>
        <p:nvSpPr>
          <p:cNvPr id="30" name="Text 6"/>
          <p:cNvSpPr/>
          <p:nvPr/>
        </p:nvSpPr>
        <p:spPr>
          <a:xfrm>
            <a:off x="4543034" y="2465936"/>
            <a:ext cx="5686812" cy="249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68"/>
              </a:lnSpc>
              <a:buNone/>
            </a:pPr>
            <a:r>
              <a:rPr lang="en-US" sz="18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Listing Grid</a:t>
            </a:r>
            <a:endParaRPr lang="en-US" sz="1800" dirty="0"/>
          </a:p>
        </p:txBody>
      </p:sp>
      <p:sp>
        <p:nvSpPr>
          <p:cNvPr id="31" name="Text 7"/>
          <p:cNvSpPr/>
          <p:nvPr/>
        </p:nvSpPr>
        <p:spPr>
          <a:xfrm>
            <a:off x="4785173" y="2840861"/>
            <a:ext cx="2863684" cy="4374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22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grid view with large photo previews.</a:t>
            </a:r>
            <a:endParaRPr lang="en-US" sz="1350" dirty="0"/>
          </a:p>
        </p:txBody>
      </p:sp>
      <p:sp>
        <p:nvSpPr>
          <p:cNvPr id="32" name="Text 8"/>
          <p:cNvSpPr/>
          <p:nvPr/>
        </p:nvSpPr>
        <p:spPr>
          <a:xfrm>
            <a:off x="4785173" y="3403248"/>
            <a:ext cx="2863684" cy="437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22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tags (Furniture, Books, etc.) for filtering.</a:t>
            </a:r>
            <a:endParaRPr lang="en-US" sz="1350" dirty="0"/>
          </a:p>
        </p:txBody>
      </p:sp>
      <p:sp>
        <p:nvSpPr>
          <p:cNvPr id="33" name="Text 9"/>
          <p:cNvSpPr/>
          <p:nvPr/>
        </p:nvSpPr>
        <p:spPr>
          <a:xfrm>
            <a:off x="4785173" y="3965636"/>
            <a:ext cx="7406827" cy="2187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22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availability status indicators.</a:t>
            </a:r>
            <a:endParaRPr lang="en-US" sz="1350" dirty="0"/>
          </a:p>
        </p:txBody>
      </p:sp>
      <p:sp>
        <p:nvSpPr>
          <p:cNvPr id="34" name="Text 10"/>
          <p:cNvSpPr/>
          <p:nvPr/>
        </p:nvSpPr>
        <p:spPr>
          <a:xfrm>
            <a:off x="8273732" y="2465936"/>
            <a:ext cx="3918268" cy="249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68"/>
              </a:lnSpc>
              <a:buNone/>
            </a:pPr>
            <a:r>
              <a:rPr lang="en-US" sz="18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Dashboard</a:t>
            </a:r>
            <a:endParaRPr lang="en-US" sz="1800" dirty="0"/>
          </a:p>
        </p:txBody>
      </p:sp>
      <p:sp>
        <p:nvSpPr>
          <p:cNvPr id="35" name="Text 11"/>
          <p:cNvSpPr/>
          <p:nvPr/>
        </p:nvSpPr>
        <p:spPr>
          <a:xfrm>
            <a:off x="8515870" y="2840861"/>
            <a:ext cx="2863684" cy="4374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22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"My Listings" panel for managing donations.</a:t>
            </a:r>
            <a:endParaRPr lang="en-US" sz="1350" dirty="0"/>
          </a:p>
        </p:txBody>
      </p:sp>
      <p:sp>
        <p:nvSpPr>
          <p:cNvPr id="36" name="Text 12"/>
          <p:cNvSpPr/>
          <p:nvPr/>
        </p:nvSpPr>
        <p:spPr>
          <a:xfrm>
            <a:off x="8515870" y="3403248"/>
            <a:ext cx="2863684" cy="437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22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messaging for donor communication.</a:t>
            </a:r>
            <a:endParaRPr lang="en-US" sz="1350" dirty="0"/>
          </a:p>
        </p:txBody>
      </p:sp>
      <p:sp>
        <p:nvSpPr>
          <p:cNvPr id="37" name="Text 13"/>
          <p:cNvSpPr/>
          <p:nvPr/>
        </p:nvSpPr>
        <p:spPr>
          <a:xfrm>
            <a:off x="8515870" y="3965636"/>
            <a:ext cx="2863684" cy="4374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22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history and status tracking.</a:t>
            </a:r>
            <a:endParaRPr lang="en-US" sz="1350" dirty="0"/>
          </a:p>
        </p:txBody>
      </p:sp>
      <p:sp>
        <p:nvSpPr>
          <p:cNvPr id="38" name="Text 14"/>
          <p:cNvSpPr/>
          <p:nvPr/>
        </p:nvSpPr>
        <p:spPr>
          <a:xfrm>
            <a:off x="1163829" y="5974388"/>
            <a:ext cx="4739007" cy="2187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22"/>
              </a:lnSpc>
              <a:buNone/>
            </a:pPr>
            <a:r>
              <a:rPr lang="en-US" sz="1500" b="1" kern="0" spc="7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PRINCIPLES</a:t>
            </a:r>
            <a:endParaRPr lang="en-US" sz="1500" dirty="0"/>
          </a:p>
        </p:txBody>
      </p:sp>
      <p:sp>
        <p:nvSpPr>
          <p:cNvPr id="39" name="Text 15"/>
          <p:cNvSpPr/>
          <p:nvPr/>
        </p:nvSpPr>
        <p:spPr>
          <a:xfrm>
            <a:off x="6646128" y="5974388"/>
            <a:ext cx="4014216" cy="2187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22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Typography</a:t>
            </a:r>
            <a:endParaRPr lang="en-US" sz="1350" dirty="0"/>
          </a:p>
        </p:txBody>
      </p:sp>
      <p:sp>
        <p:nvSpPr>
          <p:cNvPr id="40" name="Text 16"/>
          <p:cNvSpPr/>
          <p:nvPr/>
        </p:nvSpPr>
        <p:spPr>
          <a:xfrm>
            <a:off x="8661349" y="5974388"/>
            <a:ext cx="3261550" cy="2187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22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Contrast</a:t>
            </a:r>
            <a:endParaRPr lang="en-US" sz="1350" dirty="0"/>
          </a:p>
        </p:txBody>
      </p:sp>
      <p:sp>
        <p:nvSpPr>
          <p:cNvPr id="41" name="Text 17"/>
          <p:cNvSpPr/>
          <p:nvPr/>
        </p:nvSpPr>
        <p:spPr>
          <a:xfrm>
            <a:off x="10317267" y="5974388"/>
            <a:ext cx="1874733" cy="2187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22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Intuitive Flow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333500"/>
            <a:ext cx="76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695450"/>
            <a:ext cx="2590800" cy="18954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8300" y="2124075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5463" y="2257425"/>
            <a:ext cx="142875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900" y="1695450"/>
            <a:ext cx="2590800" cy="18954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7700" y="2124075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1050" y="2257425"/>
            <a:ext cx="19050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695450"/>
            <a:ext cx="2590800" cy="18954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7100" y="2124075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19975" y="2257425"/>
            <a:ext cx="171450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9700" y="1695450"/>
            <a:ext cx="2590800" cy="18954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96500" y="2124075"/>
            <a:ext cx="45720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06038" y="2257425"/>
            <a:ext cx="238125" cy="190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3819525"/>
            <a:ext cx="2590800" cy="189547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38300" y="4248150"/>
            <a:ext cx="457200" cy="457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71650" y="4381500"/>
            <a:ext cx="190500" cy="190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90900" y="3819525"/>
            <a:ext cx="2590800" cy="189547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57700" y="4248150"/>
            <a:ext cx="457200" cy="457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91050" y="4381500"/>
            <a:ext cx="190500" cy="1905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3819525"/>
            <a:ext cx="2590800" cy="1895475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77100" y="4248150"/>
            <a:ext cx="457200" cy="457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86638" y="4381500"/>
            <a:ext cx="238125" cy="1905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29700" y="3819525"/>
            <a:ext cx="2590800" cy="1895475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096500" y="4248150"/>
            <a:ext cx="457200" cy="4572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06038" y="4381500"/>
            <a:ext cx="238125" cy="1905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6019800"/>
            <a:ext cx="11049000" cy="4572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262188" y="6267450"/>
            <a:ext cx="180975" cy="1905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243263" y="6267450"/>
            <a:ext cx="142875" cy="1905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29088" y="6276975"/>
            <a:ext cx="190500" cy="17145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571500" y="381000"/>
            <a:ext cx="11049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Workflow</a:t>
            </a:r>
            <a:endParaRPr lang="en-US" sz="3600" dirty="0"/>
          </a:p>
        </p:txBody>
      </p:sp>
      <p:sp>
        <p:nvSpPr>
          <p:cNvPr id="34" name="Text 1"/>
          <p:cNvSpPr/>
          <p:nvPr/>
        </p:nvSpPr>
        <p:spPr>
          <a:xfrm>
            <a:off x="571500" y="914400"/>
            <a:ext cx="11430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structured development lifecycle of Free Sewaa</a:t>
            </a:r>
            <a:endParaRPr lang="en-US" sz="1500" dirty="0"/>
          </a:p>
        </p:txBody>
      </p:sp>
      <p:sp>
        <p:nvSpPr>
          <p:cNvPr id="35" name="Text 2"/>
          <p:cNvSpPr/>
          <p:nvPr/>
        </p:nvSpPr>
        <p:spPr>
          <a:xfrm>
            <a:off x="1530548" y="1847850"/>
            <a:ext cx="672554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01</a:t>
            </a:r>
            <a:endParaRPr lang="en-US" sz="1050" dirty="0"/>
          </a:p>
        </p:txBody>
      </p:sp>
      <p:sp>
        <p:nvSpPr>
          <p:cNvPr id="36" name="Text 3"/>
          <p:cNvSpPr/>
          <p:nvPr/>
        </p:nvSpPr>
        <p:spPr>
          <a:xfrm>
            <a:off x="1281113" y="2695575"/>
            <a:ext cx="11715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</a:t>
            </a:r>
            <a:endParaRPr lang="en-US" sz="1350" dirty="0"/>
          </a:p>
        </p:txBody>
      </p:sp>
      <p:sp>
        <p:nvSpPr>
          <p:cNvPr id="37" name="Text 4"/>
          <p:cNvSpPr/>
          <p:nvPr/>
        </p:nvSpPr>
        <p:spPr>
          <a:xfrm>
            <a:off x="823913" y="3000375"/>
            <a:ext cx="20859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definition &amp; needs analysis</a:t>
            </a:r>
            <a:endParaRPr lang="en-US" sz="1050" dirty="0"/>
          </a:p>
        </p:txBody>
      </p:sp>
      <p:sp>
        <p:nvSpPr>
          <p:cNvPr id="38" name="Text 5"/>
          <p:cNvSpPr/>
          <p:nvPr/>
        </p:nvSpPr>
        <p:spPr>
          <a:xfrm>
            <a:off x="4335661" y="1847850"/>
            <a:ext cx="701129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02</a:t>
            </a:r>
            <a:endParaRPr lang="en-US" sz="1050" dirty="0"/>
          </a:p>
        </p:txBody>
      </p:sp>
      <p:sp>
        <p:nvSpPr>
          <p:cNvPr id="39" name="Text 6"/>
          <p:cNvSpPr/>
          <p:nvPr/>
        </p:nvSpPr>
        <p:spPr>
          <a:xfrm>
            <a:off x="4133850" y="2695575"/>
            <a:ext cx="1104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UI/UX Design</a:t>
            </a:r>
            <a:endParaRPr lang="en-US" sz="1350" dirty="0"/>
          </a:p>
        </p:txBody>
      </p:sp>
      <p:sp>
        <p:nvSpPr>
          <p:cNvPr id="40" name="Text 7"/>
          <p:cNvSpPr/>
          <p:nvPr/>
        </p:nvSpPr>
        <p:spPr>
          <a:xfrm>
            <a:off x="3767138" y="3000375"/>
            <a:ext cx="18383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Figma wireframes &amp; mockups</a:t>
            </a:r>
            <a:endParaRPr lang="en-US" sz="1050" dirty="0"/>
          </a:p>
        </p:txBody>
      </p:sp>
      <p:sp>
        <p:nvSpPr>
          <p:cNvPr id="41" name="Text 8"/>
          <p:cNvSpPr/>
          <p:nvPr/>
        </p:nvSpPr>
        <p:spPr>
          <a:xfrm>
            <a:off x="7155061" y="1847850"/>
            <a:ext cx="701129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03</a:t>
            </a:r>
            <a:endParaRPr lang="en-US" sz="1050" dirty="0"/>
          </a:p>
        </p:txBody>
      </p:sp>
      <p:sp>
        <p:nvSpPr>
          <p:cNvPr id="42" name="Text 9"/>
          <p:cNvSpPr/>
          <p:nvPr/>
        </p:nvSpPr>
        <p:spPr>
          <a:xfrm>
            <a:off x="7029450" y="2695575"/>
            <a:ext cx="952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 Schema</a:t>
            </a:r>
            <a:endParaRPr lang="en-US" sz="1350" dirty="0"/>
          </a:p>
        </p:txBody>
      </p:sp>
      <p:sp>
        <p:nvSpPr>
          <p:cNvPr id="43" name="Text 10"/>
          <p:cNvSpPr/>
          <p:nvPr/>
        </p:nvSpPr>
        <p:spPr>
          <a:xfrm>
            <a:off x="6715125" y="3000375"/>
            <a:ext cx="15811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structure &amp; relations</a:t>
            </a:r>
            <a:endParaRPr lang="en-US" sz="1050" dirty="0"/>
          </a:p>
        </p:txBody>
      </p:sp>
      <p:sp>
        <p:nvSpPr>
          <p:cNvPr id="44" name="Text 11"/>
          <p:cNvSpPr/>
          <p:nvPr/>
        </p:nvSpPr>
        <p:spPr>
          <a:xfrm>
            <a:off x="9974461" y="1847850"/>
            <a:ext cx="701129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04</a:t>
            </a:r>
            <a:endParaRPr lang="en-US" sz="1050" dirty="0"/>
          </a:p>
        </p:txBody>
      </p:sp>
      <p:sp>
        <p:nvSpPr>
          <p:cNvPr id="45" name="Text 12"/>
          <p:cNvSpPr/>
          <p:nvPr/>
        </p:nvSpPr>
        <p:spPr>
          <a:xfrm>
            <a:off x="9944100" y="2695575"/>
            <a:ext cx="762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350" dirty="0"/>
          </a:p>
        </p:txBody>
      </p:sp>
      <p:sp>
        <p:nvSpPr>
          <p:cNvPr id="46" name="Text 13"/>
          <p:cNvSpPr/>
          <p:nvPr/>
        </p:nvSpPr>
        <p:spPr>
          <a:xfrm>
            <a:off x="9505950" y="3000375"/>
            <a:ext cx="16383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component building</a:t>
            </a:r>
            <a:endParaRPr lang="en-US" sz="1050" dirty="0"/>
          </a:p>
        </p:txBody>
      </p:sp>
      <p:sp>
        <p:nvSpPr>
          <p:cNvPr id="47" name="Text 14"/>
          <p:cNvSpPr/>
          <p:nvPr/>
        </p:nvSpPr>
        <p:spPr>
          <a:xfrm>
            <a:off x="1516261" y="3971925"/>
            <a:ext cx="701129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05</a:t>
            </a:r>
            <a:endParaRPr lang="en-US" sz="1050" dirty="0"/>
          </a:p>
        </p:txBody>
      </p:sp>
      <p:sp>
        <p:nvSpPr>
          <p:cNvPr id="48" name="Text 15"/>
          <p:cNvSpPr/>
          <p:nvPr/>
        </p:nvSpPr>
        <p:spPr>
          <a:xfrm>
            <a:off x="1343025" y="4819650"/>
            <a:ext cx="1047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API</a:t>
            </a:r>
            <a:endParaRPr lang="en-US" sz="1350" dirty="0"/>
          </a:p>
        </p:txBody>
      </p:sp>
      <p:sp>
        <p:nvSpPr>
          <p:cNvPr id="49" name="Text 16"/>
          <p:cNvSpPr/>
          <p:nvPr/>
        </p:nvSpPr>
        <p:spPr>
          <a:xfrm>
            <a:off x="1257300" y="5124450"/>
            <a:ext cx="1219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Node/Express logic</a:t>
            </a:r>
            <a:endParaRPr lang="en-US" sz="1050" dirty="0"/>
          </a:p>
        </p:txBody>
      </p:sp>
      <p:sp>
        <p:nvSpPr>
          <p:cNvPr id="50" name="Text 17"/>
          <p:cNvSpPr/>
          <p:nvPr/>
        </p:nvSpPr>
        <p:spPr>
          <a:xfrm>
            <a:off x="4335661" y="3971925"/>
            <a:ext cx="701129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06</a:t>
            </a:r>
            <a:endParaRPr lang="en-US" sz="1050" dirty="0"/>
          </a:p>
        </p:txBody>
      </p:sp>
      <p:sp>
        <p:nvSpPr>
          <p:cNvPr id="51" name="Text 18"/>
          <p:cNvSpPr/>
          <p:nvPr/>
        </p:nvSpPr>
        <p:spPr>
          <a:xfrm>
            <a:off x="4229100" y="4819650"/>
            <a:ext cx="91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1350" dirty="0"/>
          </a:p>
        </p:txBody>
      </p:sp>
      <p:sp>
        <p:nvSpPr>
          <p:cNvPr id="52" name="Text 19"/>
          <p:cNvSpPr/>
          <p:nvPr/>
        </p:nvSpPr>
        <p:spPr>
          <a:xfrm>
            <a:off x="3795713" y="5124450"/>
            <a:ext cx="17811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testing &amp; debugging</a:t>
            </a:r>
            <a:endParaRPr lang="en-US" sz="1050" dirty="0"/>
          </a:p>
        </p:txBody>
      </p:sp>
      <p:sp>
        <p:nvSpPr>
          <p:cNvPr id="53" name="Text 20"/>
          <p:cNvSpPr/>
          <p:nvPr/>
        </p:nvSpPr>
        <p:spPr>
          <a:xfrm>
            <a:off x="7159823" y="3971925"/>
            <a:ext cx="691604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07</a:t>
            </a:r>
            <a:endParaRPr lang="en-US" sz="1050" dirty="0"/>
          </a:p>
        </p:txBody>
      </p:sp>
      <p:sp>
        <p:nvSpPr>
          <p:cNvPr id="54" name="Text 21"/>
          <p:cNvSpPr/>
          <p:nvPr/>
        </p:nvSpPr>
        <p:spPr>
          <a:xfrm>
            <a:off x="6996113" y="4819650"/>
            <a:ext cx="10191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55" name="Text 22"/>
          <p:cNvSpPr/>
          <p:nvPr/>
        </p:nvSpPr>
        <p:spPr>
          <a:xfrm>
            <a:off x="6757988" y="5124450"/>
            <a:ext cx="14954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&amp; Render hosting</a:t>
            </a:r>
            <a:endParaRPr lang="en-US" sz="1050" dirty="0"/>
          </a:p>
        </p:txBody>
      </p:sp>
      <p:sp>
        <p:nvSpPr>
          <p:cNvPr id="56" name="Text 23"/>
          <p:cNvSpPr/>
          <p:nvPr/>
        </p:nvSpPr>
        <p:spPr>
          <a:xfrm>
            <a:off x="9974461" y="3971925"/>
            <a:ext cx="701129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08</a:t>
            </a:r>
            <a:endParaRPr lang="en-US" sz="1050" dirty="0"/>
          </a:p>
        </p:txBody>
      </p:sp>
      <p:sp>
        <p:nvSpPr>
          <p:cNvPr id="57" name="Text 24"/>
          <p:cNvSpPr/>
          <p:nvPr/>
        </p:nvSpPr>
        <p:spPr>
          <a:xfrm>
            <a:off x="9796463" y="4819650"/>
            <a:ext cx="10572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Testing</a:t>
            </a:r>
            <a:endParaRPr lang="en-US" sz="1350" dirty="0"/>
          </a:p>
        </p:txBody>
      </p:sp>
      <p:sp>
        <p:nvSpPr>
          <p:cNvPr id="58" name="Text 25"/>
          <p:cNvSpPr/>
          <p:nvPr/>
        </p:nvSpPr>
        <p:spPr>
          <a:xfrm>
            <a:off x="9605963" y="5124450"/>
            <a:ext cx="14382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&amp; final polish</a:t>
            </a:r>
            <a:endParaRPr lang="en-US" sz="1050" dirty="0"/>
          </a:p>
        </p:txBody>
      </p:sp>
      <p:sp>
        <p:nvSpPr>
          <p:cNvPr id="59" name="Text 26"/>
          <p:cNvSpPr/>
          <p:nvPr/>
        </p:nvSpPr>
        <p:spPr>
          <a:xfrm>
            <a:off x="571500" y="6267450"/>
            <a:ext cx="24003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kern="0" spc="42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ECOSYSTEM:</a:t>
            </a:r>
            <a:endParaRPr lang="en-US" sz="1050" dirty="0"/>
          </a:p>
        </p:txBody>
      </p:sp>
      <p:sp>
        <p:nvSpPr>
          <p:cNvPr id="60" name="Text 27"/>
          <p:cNvSpPr/>
          <p:nvPr/>
        </p:nvSpPr>
        <p:spPr>
          <a:xfrm>
            <a:off x="2519363" y="6248400"/>
            <a:ext cx="1097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endParaRPr lang="en-US" sz="1200" dirty="0"/>
          </a:p>
        </p:txBody>
      </p:sp>
      <p:sp>
        <p:nvSpPr>
          <p:cNvPr id="61" name="Text 28"/>
          <p:cNvSpPr/>
          <p:nvPr/>
        </p:nvSpPr>
        <p:spPr>
          <a:xfrm>
            <a:off x="3462338" y="6248400"/>
            <a:ext cx="914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Figma</a:t>
            </a:r>
            <a:endParaRPr lang="en-US" sz="1200" dirty="0"/>
          </a:p>
        </p:txBody>
      </p:sp>
      <p:sp>
        <p:nvSpPr>
          <p:cNvPr id="62" name="Text 29"/>
          <p:cNvSpPr/>
          <p:nvPr/>
        </p:nvSpPr>
        <p:spPr>
          <a:xfrm>
            <a:off x="4395788" y="6248400"/>
            <a:ext cx="1280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Postman</a:t>
            </a:r>
            <a:endParaRPr lang="en-US" sz="1200" dirty="0"/>
          </a:p>
        </p:txBody>
      </p:sp>
      <p:sp>
        <p:nvSpPr>
          <p:cNvPr id="63" name="Text 30"/>
          <p:cNvSpPr/>
          <p:nvPr/>
        </p:nvSpPr>
        <p:spPr>
          <a:xfrm>
            <a:off x="9372600" y="6267450"/>
            <a:ext cx="2819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Iterative Development Methodology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00200"/>
            <a:ext cx="3479750" cy="4114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82880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25" y="1943100"/>
            <a:ext cx="13335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57175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314325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371475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428625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485775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6050" y="1600200"/>
            <a:ext cx="3479750" cy="411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4650" y="1828800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98950" y="19431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4650" y="257175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4650" y="314325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4650" y="371475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84650" y="5410200"/>
            <a:ext cx="3022550" cy="76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84650" y="5410200"/>
            <a:ext cx="2266801" cy="76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40601" y="1600200"/>
            <a:ext cx="3479899" cy="411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69201" y="1828800"/>
            <a:ext cx="3810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93026" y="1943100"/>
            <a:ext cx="1333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69201" y="2571750"/>
            <a:ext cx="1143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69201" y="3143250"/>
            <a:ext cx="1143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69201" y="3714750"/>
            <a:ext cx="1143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6019800"/>
            <a:ext cx="11049000" cy="4572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6301978"/>
            <a:ext cx="133350" cy="1524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571500" y="381000"/>
            <a:ext cx="11049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Progress</a:t>
            </a:r>
            <a:endParaRPr lang="en-US" sz="3600" dirty="0"/>
          </a:p>
        </p:txBody>
      </p:sp>
      <p:sp>
        <p:nvSpPr>
          <p:cNvPr id="29" name="Text 1"/>
          <p:cNvSpPr/>
          <p:nvPr/>
        </p:nvSpPr>
        <p:spPr>
          <a:xfrm>
            <a:off x="571500" y="952500"/>
            <a:ext cx="11049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Status &amp; Implementation Roadmap</a:t>
            </a:r>
            <a:endParaRPr lang="en-US" sz="1500" dirty="0"/>
          </a:p>
        </p:txBody>
      </p:sp>
      <p:sp>
        <p:nvSpPr>
          <p:cNvPr id="30" name="Text 2"/>
          <p:cNvSpPr/>
          <p:nvPr/>
        </p:nvSpPr>
        <p:spPr>
          <a:xfrm>
            <a:off x="1295400" y="1866900"/>
            <a:ext cx="24688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</a:t>
            </a:r>
            <a:endParaRPr lang="en-US" sz="1800" dirty="0"/>
          </a:p>
        </p:txBody>
      </p:sp>
      <p:sp>
        <p:nvSpPr>
          <p:cNvPr id="31" name="Text 3"/>
          <p:cNvSpPr/>
          <p:nvPr/>
        </p:nvSpPr>
        <p:spPr>
          <a:xfrm>
            <a:off x="1066800" y="2514600"/>
            <a:ext cx="4937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Planning &amp; Scope</a:t>
            </a:r>
            <a:endParaRPr lang="en-US" sz="1350" dirty="0"/>
          </a:p>
        </p:txBody>
      </p:sp>
      <p:sp>
        <p:nvSpPr>
          <p:cNvPr id="32" name="Text 4"/>
          <p:cNvSpPr/>
          <p:nvPr/>
        </p:nvSpPr>
        <p:spPr>
          <a:xfrm>
            <a:off x="1066800" y="3086100"/>
            <a:ext cx="34975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UI/UX Wireframing</a:t>
            </a:r>
            <a:endParaRPr lang="en-US" sz="1350" dirty="0"/>
          </a:p>
        </p:txBody>
      </p:sp>
      <p:sp>
        <p:nvSpPr>
          <p:cNvPr id="33" name="Text 5"/>
          <p:cNvSpPr/>
          <p:nvPr/>
        </p:nvSpPr>
        <p:spPr>
          <a:xfrm>
            <a:off x="1066800" y="3657600"/>
            <a:ext cx="45262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Schema Design</a:t>
            </a:r>
            <a:endParaRPr lang="en-US" sz="1350" dirty="0"/>
          </a:p>
        </p:txBody>
      </p:sp>
      <p:sp>
        <p:nvSpPr>
          <p:cNvPr id="34" name="Text 6"/>
          <p:cNvSpPr/>
          <p:nvPr/>
        </p:nvSpPr>
        <p:spPr>
          <a:xfrm>
            <a:off x="1066800" y="4229100"/>
            <a:ext cx="4320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Auth (Login/Reg)</a:t>
            </a:r>
            <a:endParaRPr lang="en-US" sz="1350" dirty="0"/>
          </a:p>
        </p:txBody>
      </p:sp>
      <p:sp>
        <p:nvSpPr>
          <p:cNvPr id="35" name="Text 7"/>
          <p:cNvSpPr/>
          <p:nvPr/>
        </p:nvSpPr>
        <p:spPr>
          <a:xfrm>
            <a:off x="1066800" y="4800600"/>
            <a:ext cx="34975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Posting Form</a:t>
            </a:r>
            <a:endParaRPr lang="en-US" sz="1350" dirty="0"/>
          </a:p>
        </p:txBody>
      </p:sp>
      <p:sp>
        <p:nvSpPr>
          <p:cNvPr id="36" name="Text 8"/>
          <p:cNvSpPr/>
          <p:nvPr/>
        </p:nvSpPr>
        <p:spPr>
          <a:xfrm>
            <a:off x="5079950" y="1866900"/>
            <a:ext cx="30175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Progress</a:t>
            </a:r>
            <a:endParaRPr lang="en-US" sz="1800" dirty="0"/>
          </a:p>
        </p:txBody>
      </p:sp>
      <p:sp>
        <p:nvSpPr>
          <p:cNvPr id="37" name="Text 9"/>
          <p:cNvSpPr/>
          <p:nvPr/>
        </p:nvSpPr>
        <p:spPr>
          <a:xfrm>
            <a:off x="4851350" y="2514600"/>
            <a:ext cx="4320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 &amp; Search Logic</a:t>
            </a:r>
            <a:endParaRPr lang="en-US" sz="1350" dirty="0"/>
          </a:p>
        </p:txBody>
      </p:sp>
      <p:sp>
        <p:nvSpPr>
          <p:cNvPr id="38" name="Text 10"/>
          <p:cNvSpPr/>
          <p:nvPr/>
        </p:nvSpPr>
        <p:spPr>
          <a:xfrm>
            <a:off x="4851350" y="3086100"/>
            <a:ext cx="39090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Request System</a:t>
            </a:r>
            <a:endParaRPr lang="en-US" sz="1350" dirty="0"/>
          </a:p>
        </p:txBody>
      </p:sp>
      <p:sp>
        <p:nvSpPr>
          <p:cNvPr id="39" name="Text 11"/>
          <p:cNvSpPr/>
          <p:nvPr/>
        </p:nvSpPr>
        <p:spPr>
          <a:xfrm>
            <a:off x="4851350" y="3657600"/>
            <a:ext cx="4937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In-app Messaging Feature</a:t>
            </a:r>
            <a:endParaRPr lang="en-US" sz="1350" dirty="0"/>
          </a:p>
        </p:txBody>
      </p:sp>
      <p:sp>
        <p:nvSpPr>
          <p:cNvPr id="40" name="Text 12"/>
          <p:cNvSpPr/>
          <p:nvPr/>
        </p:nvSpPr>
        <p:spPr>
          <a:xfrm>
            <a:off x="4584650" y="5143500"/>
            <a:ext cx="35204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Implementation</a:t>
            </a:r>
            <a:endParaRPr lang="en-US" sz="1050" dirty="0"/>
          </a:p>
        </p:txBody>
      </p:sp>
      <p:sp>
        <p:nvSpPr>
          <p:cNvPr id="41" name="Text 13"/>
          <p:cNvSpPr/>
          <p:nvPr/>
        </p:nvSpPr>
        <p:spPr>
          <a:xfrm>
            <a:off x="7321451" y="5143500"/>
            <a:ext cx="6934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75%</a:t>
            </a:r>
            <a:endParaRPr lang="en-US" sz="1050" dirty="0"/>
          </a:p>
        </p:txBody>
      </p:sp>
      <p:sp>
        <p:nvSpPr>
          <p:cNvPr id="42" name="Text 14"/>
          <p:cNvSpPr/>
          <p:nvPr/>
        </p:nvSpPr>
        <p:spPr>
          <a:xfrm>
            <a:off x="8864501" y="1866900"/>
            <a:ext cx="21945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Upcoming</a:t>
            </a:r>
            <a:endParaRPr lang="en-US" sz="1800" dirty="0"/>
          </a:p>
        </p:txBody>
      </p:sp>
      <p:sp>
        <p:nvSpPr>
          <p:cNvPr id="43" name="Text 15"/>
          <p:cNvSpPr/>
          <p:nvPr/>
        </p:nvSpPr>
        <p:spPr>
          <a:xfrm>
            <a:off x="8597801" y="2514600"/>
            <a:ext cx="35941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Integration Testing</a:t>
            </a:r>
            <a:endParaRPr lang="en-US" sz="1350" dirty="0"/>
          </a:p>
        </p:txBody>
      </p:sp>
      <p:sp>
        <p:nvSpPr>
          <p:cNvPr id="44" name="Text 16"/>
          <p:cNvSpPr/>
          <p:nvPr/>
        </p:nvSpPr>
        <p:spPr>
          <a:xfrm>
            <a:off x="8597801" y="3086100"/>
            <a:ext cx="35941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Deployment</a:t>
            </a:r>
            <a:endParaRPr lang="en-US" sz="1350" dirty="0"/>
          </a:p>
        </p:txBody>
      </p:sp>
      <p:sp>
        <p:nvSpPr>
          <p:cNvPr id="45" name="Text 17"/>
          <p:cNvSpPr/>
          <p:nvPr/>
        </p:nvSpPr>
        <p:spPr>
          <a:xfrm>
            <a:off x="8597801" y="3657600"/>
            <a:ext cx="35941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Acceptance Testing</a:t>
            </a:r>
            <a:endParaRPr lang="en-US" sz="1350" dirty="0"/>
          </a:p>
        </p:txBody>
      </p:sp>
      <p:sp>
        <p:nvSpPr>
          <p:cNvPr id="46" name="Text 18"/>
          <p:cNvSpPr/>
          <p:nvPr/>
        </p:nvSpPr>
        <p:spPr>
          <a:xfrm>
            <a:off x="781050" y="6248400"/>
            <a:ext cx="74980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Current Phase: Development &amp; Integration</a:t>
            </a:r>
            <a:endParaRPr lang="en-US" sz="1200" dirty="0"/>
          </a:p>
        </p:txBody>
      </p:sp>
      <p:sp>
        <p:nvSpPr>
          <p:cNvPr id="47" name="Text 19"/>
          <p:cNvSpPr/>
          <p:nvPr/>
        </p:nvSpPr>
        <p:spPr>
          <a:xfrm>
            <a:off x="8810625" y="6267450"/>
            <a:ext cx="33813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kern="0" spc="8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SEWAA PROJECT MILESTONE 4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4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74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81" y="1014603"/>
            <a:ext cx="704137" cy="4400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781" y="1352002"/>
            <a:ext cx="5333172" cy="209590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76" y="1498698"/>
            <a:ext cx="293390" cy="29339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819" y="1569065"/>
            <a:ext cx="190704" cy="15254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76" y="2378869"/>
            <a:ext cx="5039781" cy="35206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493" y="2487629"/>
            <a:ext cx="154030" cy="15403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2021" y="1352002"/>
            <a:ext cx="5333172" cy="209590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8716" y="1498698"/>
            <a:ext cx="293390" cy="29339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8716" y="2173495"/>
            <a:ext cx="5039782" cy="352068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6734" y="2282256"/>
            <a:ext cx="154030" cy="15403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6781" y="3682622"/>
            <a:ext cx="5333172" cy="2095907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3476" y="3829317"/>
            <a:ext cx="293390" cy="29339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4819" y="3899685"/>
            <a:ext cx="190704" cy="15254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3476" y="4709488"/>
            <a:ext cx="5039781" cy="352068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1493" y="4818249"/>
            <a:ext cx="154030" cy="15403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72021" y="3682622"/>
            <a:ext cx="5333172" cy="2095907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18716" y="3829317"/>
            <a:ext cx="293390" cy="293391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88396" y="3898997"/>
            <a:ext cx="154030" cy="15403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18716" y="4504115"/>
            <a:ext cx="5039782" cy="352068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06734" y="4612876"/>
            <a:ext cx="154030" cy="15403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86781" y="6013242"/>
            <a:ext cx="11018412" cy="404672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586781" y="440086"/>
            <a:ext cx="11605219" cy="4571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 &amp; Mitigations</a:t>
            </a:r>
            <a:endParaRPr lang="en-US" sz="3600" dirty="0"/>
          </a:p>
        </p:txBody>
      </p:sp>
      <p:sp>
        <p:nvSpPr>
          <p:cNvPr id="26" name="Text 1"/>
          <p:cNvSpPr/>
          <p:nvPr/>
        </p:nvSpPr>
        <p:spPr>
          <a:xfrm>
            <a:off x="1144222" y="1528037"/>
            <a:ext cx="4631060" cy="2347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48"/>
              </a:lnSpc>
              <a:buNone/>
            </a:pPr>
            <a:r>
              <a:rPr lang="en-US" sz="18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Adoption</a:t>
            </a:r>
            <a:endParaRPr lang="en-US" sz="1800" dirty="0"/>
          </a:p>
        </p:txBody>
      </p:sp>
      <p:sp>
        <p:nvSpPr>
          <p:cNvPr id="27" name="Text 2"/>
          <p:cNvSpPr/>
          <p:nvPr/>
        </p:nvSpPr>
        <p:spPr>
          <a:xfrm>
            <a:off x="733476" y="1880105"/>
            <a:ext cx="5039781" cy="4107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17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Encouraging initial community engagement and platform usage.</a:t>
            </a:r>
            <a:endParaRPr lang="en-US" sz="1350" dirty="0"/>
          </a:p>
        </p:txBody>
      </p:sp>
      <p:sp>
        <p:nvSpPr>
          <p:cNvPr id="28" name="Text 3"/>
          <p:cNvSpPr/>
          <p:nvPr/>
        </p:nvSpPr>
        <p:spPr>
          <a:xfrm>
            <a:off x="1034201" y="2466886"/>
            <a:ext cx="11157799" cy="1760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86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Mitigation: Targeted outreach to student groups &amp; social media.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6829463" y="1528037"/>
            <a:ext cx="5362537" cy="2347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48"/>
              </a:lnSpc>
              <a:buNone/>
            </a:pPr>
            <a:r>
              <a:rPr lang="en-US" sz="18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Verification</a:t>
            </a:r>
            <a:endParaRPr lang="en-US" sz="1800" dirty="0"/>
          </a:p>
        </p:txBody>
      </p:sp>
      <p:sp>
        <p:nvSpPr>
          <p:cNvPr id="30" name="Text 5"/>
          <p:cNvSpPr/>
          <p:nvPr/>
        </p:nvSpPr>
        <p:spPr>
          <a:xfrm>
            <a:off x="6418716" y="1880105"/>
            <a:ext cx="5773284" cy="2053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17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donated items are in usable and safe condition.</a:t>
            </a:r>
            <a:endParaRPr lang="en-US" sz="1350" dirty="0"/>
          </a:p>
        </p:txBody>
      </p:sp>
      <p:sp>
        <p:nvSpPr>
          <p:cNvPr id="31" name="Text 6"/>
          <p:cNvSpPr/>
          <p:nvPr/>
        </p:nvSpPr>
        <p:spPr>
          <a:xfrm>
            <a:off x="6719442" y="2261513"/>
            <a:ext cx="5472558" cy="1760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86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Mitigation: Rating system and clear photo requirements.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1144222" y="3858656"/>
            <a:ext cx="4987295" cy="2347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48"/>
              </a:lnSpc>
              <a:buNone/>
            </a:pPr>
            <a:r>
              <a:rPr lang="en-US" sz="18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Chat</a:t>
            </a:r>
            <a:endParaRPr lang="en-US" sz="1800" dirty="0"/>
          </a:p>
        </p:txBody>
      </p:sp>
      <p:sp>
        <p:nvSpPr>
          <p:cNvPr id="33" name="Text 8"/>
          <p:cNvSpPr/>
          <p:nvPr/>
        </p:nvSpPr>
        <p:spPr>
          <a:xfrm>
            <a:off x="733476" y="4210725"/>
            <a:ext cx="5039781" cy="4107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17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Implementing reliable communication between donors/receivers.</a:t>
            </a:r>
            <a:endParaRPr lang="en-US" sz="1350" dirty="0"/>
          </a:p>
        </p:txBody>
      </p:sp>
      <p:sp>
        <p:nvSpPr>
          <p:cNvPr id="34" name="Text 9"/>
          <p:cNvSpPr/>
          <p:nvPr/>
        </p:nvSpPr>
        <p:spPr>
          <a:xfrm>
            <a:off x="1034201" y="4797505"/>
            <a:ext cx="11157799" cy="1760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86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Mitigation: Using Socket.io for efficient message delivery.</a:t>
            </a:r>
            <a:endParaRPr lang="en-US" sz="1200" dirty="0"/>
          </a:p>
        </p:txBody>
      </p:sp>
      <p:sp>
        <p:nvSpPr>
          <p:cNvPr id="35" name="Text 10"/>
          <p:cNvSpPr/>
          <p:nvPr/>
        </p:nvSpPr>
        <p:spPr>
          <a:xfrm>
            <a:off x="6829463" y="3858656"/>
            <a:ext cx="5362537" cy="2347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48"/>
              </a:lnSpc>
              <a:buNone/>
            </a:pPr>
            <a:r>
              <a:rPr lang="en-US" sz="18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Security</a:t>
            </a:r>
            <a:endParaRPr lang="en-US" sz="1800" dirty="0"/>
          </a:p>
        </p:txBody>
      </p:sp>
      <p:sp>
        <p:nvSpPr>
          <p:cNvPr id="36" name="Text 11"/>
          <p:cNvSpPr/>
          <p:nvPr/>
        </p:nvSpPr>
        <p:spPr>
          <a:xfrm>
            <a:off x="6418716" y="4210725"/>
            <a:ext cx="5773284" cy="2053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17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Protecting user data and preventing platform misuse.</a:t>
            </a:r>
            <a:endParaRPr lang="en-US" sz="1350" dirty="0"/>
          </a:p>
        </p:txBody>
      </p:sp>
      <p:sp>
        <p:nvSpPr>
          <p:cNvPr id="37" name="Text 12"/>
          <p:cNvSpPr/>
          <p:nvPr/>
        </p:nvSpPr>
        <p:spPr>
          <a:xfrm>
            <a:off x="6719442" y="4592132"/>
            <a:ext cx="5472558" cy="1760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86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Mitigation: JWT authentication &amp; data encryption protocols.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586781" y="6230190"/>
            <a:ext cx="6441932" cy="1466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55"/>
              </a:lnSpc>
              <a:buNone/>
            </a:pPr>
            <a:r>
              <a:rPr lang="en-US" sz="1050" i="1" kern="0" spc="10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ADDRESSING OBSTACLES FOR GROWTH</a:t>
            </a:r>
            <a:endParaRPr lang="en-US" sz="1050" dirty="0"/>
          </a:p>
        </p:txBody>
      </p:sp>
      <p:sp>
        <p:nvSpPr>
          <p:cNvPr id="39" name="Text 14"/>
          <p:cNvSpPr/>
          <p:nvPr/>
        </p:nvSpPr>
        <p:spPr>
          <a:xfrm>
            <a:off x="9045362" y="6189276"/>
            <a:ext cx="3146638" cy="2286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Sewaa | Capstone 2026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899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899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073" y="1059017"/>
            <a:ext cx="669073" cy="5018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073" y="1853672"/>
            <a:ext cx="3506362" cy="193730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795" y="2037668"/>
            <a:ext cx="401444" cy="40144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9428" y="2136852"/>
            <a:ext cx="142178" cy="20307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42703" y="1853672"/>
            <a:ext cx="3506362" cy="193730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3425" y="2037668"/>
            <a:ext cx="401444" cy="40144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60513" y="2139989"/>
            <a:ext cx="167268" cy="19667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16333" y="1853672"/>
            <a:ext cx="3506493" cy="1937307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7055" y="2037668"/>
            <a:ext cx="401444" cy="40144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46688" y="2136852"/>
            <a:ext cx="142178" cy="203074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9073" y="3958247"/>
            <a:ext cx="3506362" cy="216939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9795" y="4142243"/>
            <a:ext cx="401444" cy="401444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3429" y="4245348"/>
            <a:ext cx="234176" cy="195103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42703" y="3958247"/>
            <a:ext cx="3506362" cy="216939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43425" y="4142243"/>
            <a:ext cx="401444" cy="401444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47968" y="4246785"/>
            <a:ext cx="192358" cy="192358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16333" y="3958247"/>
            <a:ext cx="3506493" cy="2169391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17055" y="4142243"/>
            <a:ext cx="401444" cy="401444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09052" y="4244171"/>
            <a:ext cx="217449" cy="197586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669073" y="434898"/>
            <a:ext cx="10882628" cy="5237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125"/>
              </a:lnSpc>
              <a:buNone/>
            </a:pPr>
            <a:r>
              <a:rPr lang="en-US" sz="33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Improvements</a:t>
            </a:r>
            <a:endParaRPr lang="en-US" sz="3300" dirty="0"/>
          </a:p>
        </p:txBody>
      </p:sp>
      <p:sp>
        <p:nvSpPr>
          <p:cNvPr id="24" name="Text 1"/>
          <p:cNvSpPr/>
          <p:nvPr/>
        </p:nvSpPr>
        <p:spPr>
          <a:xfrm>
            <a:off x="669073" y="1309920"/>
            <a:ext cx="11522927" cy="3095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38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roadmap of planned enhancements to expand Free Sewaa's reach, intelligence, and accessibility.</a:t>
            </a:r>
            <a:endParaRPr lang="en-US" sz="1500" dirty="0"/>
          </a:p>
        </p:txBody>
      </p:sp>
      <p:sp>
        <p:nvSpPr>
          <p:cNvPr id="25" name="Text 2"/>
          <p:cNvSpPr/>
          <p:nvPr/>
        </p:nvSpPr>
        <p:spPr>
          <a:xfrm>
            <a:off x="869795" y="2539472"/>
            <a:ext cx="5688650" cy="2714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37"/>
              </a:lnSpc>
              <a:buNone/>
            </a:pPr>
            <a:r>
              <a:rPr lang="en-US" sz="1425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Geolocation Integration</a:t>
            </a:r>
            <a:endParaRPr lang="en-US" sz="1425" dirty="0"/>
          </a:p>
        </p:txBody>
      </p:sp>
      <p:sp>
        <p:nvSpPr>
          <p:cNvPr id="26" name="Text 3"/>
          <p:cNvSpPr/>
          <p:nvPr/>
        </p:nvSpPr>
        <p:spPr>
          <a:xfrm>
            <a:off x="869795" y="2877799"/>
            <a:ext cx="3104918" cy="4641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28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nearby donations based on the user's real-time location for faster pickups.</a:t>
            </a:r>
            <a:endParaRPr lang="en-US" sz="1125" dirty="0"/>
          </a:p>
        </p:txBody>
      </p:sp>
      <p:sp>
        <p:nvSpPr>
          <p:cNvPr id="27" name="Text 4"/>
          <p:cNvSpPr/>
          <p:nvPr/>
        </p:nvSpPr>
        <p:spPr>
          <a:xfrm>
            <a:off x="4543425" y="2539472"/>
            <a:ext cx="4451987" cy="2714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37"/>
              </a:lnSpc>
              <a:buNone/>
            </a:pPr>
            <a:r>
              <a:rPr lang="en-US" sz="1425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Notifications</a:t>
            </a:r>
            <a:endParaRPr lang="en-US" sz="1425" dirty="0"/>
          </a:p>
        </p:txBody>
      </p:sp>
      <p:sp>
        <p:nvSpPr>
          <p:cNvPr id="28" name="Text 5"/>
          <p:cNvSpPr/>
          <p:nvPr/>
        </p:nvSpPr>
        <p:spPr>
          <a:xfrm>
            <a:off x="4543425" y="2877799"/>
            <a:ext cx="3104917" cy="4641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28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 users instantly when new items matching their interests become available.</a:t>
            </a:r>
            <a:endParaRPr lang="en-US" sz="1125" dirty="0"/>
          </a:p>
        </p:txBody>
      </p:sp>
      <p:sp>
        <p:nvSpPr>
          <p:cNvPr id="29" name="Text 6"/>
          <p:cNvSpPr/>
          <p:nvPr/>
        </p:nvSpPr>
        <p:spPr>
          <a:xfrm>
            <a:off x="8217055" y="2539472"/>
            <a:ext cx="3974945" cy="2714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37"/>
              </a:lnSpc>
              <a:buNone/>
            </a:pPr>
            <a:r>
              <a:rPr lang="en-US" sz="1425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Application</a:t>
            </a:r>
            <a:endParaRPr lang="en-US" sz="1425" dirty="0"/>
          </a:p>
        </p:txBody>
      </p:sp>
      <p:sp>
        <p:nvSpPr>
          <p:cNvPr id="30" name="Text 7"/>
          <p:cNvSpPr/>
          <p:nvPr/>
        </p:nvSpPr>
        <p:spPr>
          <a:xfrm>
            <a:off x="8217055" y="2877799"/>
            <a:ext cx="3105048" cy="4641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28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platform access with native iOS and Android apps for on-the-go usage.</a:t>
            </a:r>
            <a:endParaRPr lang="en-US" sz="1125" dirty="0"/>
          </a:p>
        </p:txBody>
      </p:sp>
      <p:sp>
        <p:nvSpPr>
          <p:cNvPr id="31" name="Text 8"/>
          <p:cNvSpPr/>
          <p:nvPr/>
        </p:nvSpPr>
        <p:spPr>
          <a:xfrm>
            <a:off x="869795" y="4644047"/>
            <a:ext cx="5935983" cy="2714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37"/>
              </a:lnSpc>
              <a:buNone/>
            </a:pPr>
            <a:r>
              <a:rPr lang="en-US" sz="1425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AI-Based Recommendations</a:t>
            </a:r>
            <a:endParaRPr lang="en-US" sz="1425" dirty="0"/>
          </a:p>
        </p:txBody>
      </p:sp>
      <p:sp>
        <p:nvSpPr>
          <p:cNvPr id="32" name="Text 9"/>
          <p:cNvSpPr/>
          <p:nvPr/>
        </p:nvSpPr>
        <p:spPr>
          <a:xfrm>
            <a:off x="869795" y="4982374"/>
            <a:ext cx="3104918" cy="6962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28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 personalized item suggestions to users based on their browsing and request history.</a:t>
            </a:r>
            <a:endParaRPr lang="en-US" sz="1125" dirty="0"/>
          </a:p>
        </p:txBody>
      </p:sp>
      <p:sp>
        <p:nvSpPr>
          <p:cNvPr id="33" name="Text 10"/>
          <p:cNvSpPr/>
          <p:nvPr/>
        </p:nvSpPr>
        <p:spPr>
          <a:xfrm>
            <a:off x="4543425" y="4644047"/>
            <a:ext cx="5441318" cy="2714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37"/>
              </a:lnSpc>
              <a:buNone/>
            </a:pPr>
            <a:r>
              <a:rPr lang="en-US" sz="1425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Multi-Language Support</a:t>
            </a:r>
            <a:endParaRPr lang="en-US" sz="1425" dirty="0"/>
          </a:p>
        </p:txBody>
      </p:sp>
      <p:sp>
        <p:nvSpPr>
          <p:cNvPr id="34" name="Text 11"/>
          <p:cNvSpPr/>
          <p:nvPr/>
        </p:nvSpPr>
        <p:spPr>
          <a:xfrm>
            <a:off x="4543425" y="4982374"/>
            <a:ext cx="3104917" cy="4641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28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the platform inclusive and accessible to diverse communities across languages.</a:t>
            </a:r>
            <a:endParaRPr lang="en-US" sz="1125" dirty="0"/>
          </a:p>
        </p:txBody>
      </p:sp>
      <p:sp>
        <p:nvSpPr>
          <p:cNvPr id="35" name="Text 12"/>
          <p:cNvSpPr/>
          <p:nvPr/>
        </p:nvSpPr>
        <p:spPr>
          <a:xfrm>
            <a:off x="8217055" y="4644047"/>
            <a:ext cx="3974945" cy="2714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37"/>
              </a:lnSpc>
              <a:buNone/>
            </a:pPr>
            <a:r>
              <a:rPr lang="en-US" sz="1425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Donor Rating System</a:t>
            </a:r>
            <a:endParaRPr lang="en-US" sz="1425" dirty="0"/>
          </a:p>
        </p:txBody>
      </p:sp>
      <p:sp>
        <p:nvSpPr>
          <p:cNvPr id="36" name="Text 13"/>
          <p:cNvSpPr/>
          <p:nvPr/>
        </p:nvSpPr>
        <p:spPr>
          <a:xfrm>
            <a:off x="8217055" y="4982374"/>
            <a:ext cx="3105048" cy="4641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28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community trust through verified user reviews and transparent donor ratings.</a:t>
            </a:r>
            <a:endParaRPr lang="en-US" sz="1125" dirty="0"/>
          </a:p>
        </p:txBody>
      </p:sp>
      <p:sp>
        <p:nvSpPr>
          <p:cNvPr id="37" name="Text 14"/>
          <p:cNvSpPr/>
          <p:nvPr/>
        </p:nvSpPr>
        <p:spPr>
          <a:xfrm>
            <a:off x="8675997" y="6311634"/>
            <a:ext cx="2846827" cy="1839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580"/>
              </a:lnSpc>
              <a:buNone/>
            </a:pPr>
            <a:r>
              <a:rPr lang="en-US" sz="1200" kern="0" spc="10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CAPSTONE PROJECT2026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1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71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410" y="1120670"/>
            <a:ext cx="796092" cy="4975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410" y="1435790"/>
            <a:ext cx="5220595" cy="125348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433" y="1733418"/>
            <a:ext cx="122835" cy="11765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410" y="2888295"/>
            <a:ext cx="5220595" cy="125348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433" y="3174779"/>
            <a:ext cx="146028" cy="13993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410" y="4340800"/>
            <a:ext cx="5220595" cy="125348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2433" y="4631819"/>
            <a:ext cx="164945" cy="130739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2051" y="1435790"/>
            <a:ext cx="5246510" cy="4725629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78171" y="2603107"/>
            <a:ext cx="854140" cy="690879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663410" y="530728"/>
            <a:ext cx="10865152" cy="4572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14" name="Text 1"/>
          <p:cNvSpPr/>
          <p:nvPr/>
        </p:nvSpPr>
        <p:spPr>
          <a:xfrm>
            <a:off x="1117949" y="1634813"/>
            <a:ext cx="5514017" cy="2321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28"/>
              </a:lnSpc>
              <a:buNone/>
            </a:pPr>
            <a:r>
              <a:rPr lang="en-US" sz="15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Responsibility</a:t>
            </a:r>
            <a:endParaRPr lang="en-US" sz="1500" dirty="0"/>
          </a:p>
        </p:txBody>
      </p:sp>
      <p:sp>
        <p:nvSpPr>
          <p:cNvPr id="15" name="Text 2"/>
          <p:cNvSpPr/>
          <p:nvPr/>
        </p:nvSpPr>
        <p:spPr>
          <a:xfrm>
            <a:off x="1117949" y="1933348"/>
            <a:ext cx="4567033" cy="5569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Addresses real community needs by providing a free, accessible platform for essential goods distribution.</a:t>
            </a:r>
            <a:endParaRPr lang="en-US" sz="1350" dirty="0"/>
          </a:p>
        </p:txBody>
      </p:sp>
      <p:sp>
        <p:nvSpPr>
          <p:cNvPr id="16" name="Text 3"/>
          <p:cNvSpPr/>
          <p:nvPr/>
        </p:nvSpPr>
        <p:spPr>
          <a:xfrm>
            <a:off x="1141143" y="3087318"/>
            <a:ext cx="5251445" cy="23219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28"/>
              </a:lnSpc>
              <a:buNone/>
            </a:pPr>
            <a:r>
              <a:rPr lang="en-US" sz="15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Environmental Impact</a:t>
            </a:r>
            <a:endParaRPr lang="en-US" sz="1500" dirty="0"/>
          </a:p>
        </p:txBody>
      </p:sp>
      <p:sp>
        <p:nvSpPr>
          <p:cNvPr id="17" name="Text 4"/>
          <p:cNvSpPr/>
          <p:nvPr/>
        </p:nvSpPr>
        <p:spPr>
          <a:xfrm>
            <a:off x="1141143" y="3385852"/>
            <a:ext cx="4543839" cy="5569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Promotes sustainability and waste reduction by facilitating the reuse of household items.</a:t>
            </a:r>
            <a:endParaRPr lang="en-US" sz="1350" dirty="0"/>
          </a:p>
        </p:txBody>
      </p:sp>
      <p:sp>
        <p:nvSpPr>
          <p:cNvPr id="18" name="Text 5"/>
          <p:cNvSpPr/>
          <p:nvPr/>
        </p:nvSpPr>
        <p:spPr>
          <a:xfrm>
            <a:off x="1160060" y="4539823"/>
            <a:ext cx="4988873" cy="23219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28"/>
              </a:lnSpc>
              <a:buNone/>
            </a:pPr>
            <a:r>
              <a:rPr lang="en-US" sz="15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Execution</a:t>
            </a:r>
            <a:endParaRPr lang="en-US" sz="1500" dirty="0"/>
          </a:p>
        </p:txBody>
      </p:sp>
      <p:sp>
        <p:nvSpPr>
          <p:cNvPr id="19" name="Text 6"/>
          <p:cNvSpPr/>
          <p:nvPr/>
        </p:nvSpPr>
        <p:spPr>
          <a:xfrm>
            <a:off x="1160060" y="4838357"/>
            <a:ext cx="4524922" cy="5569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Demonstrates full-stack proficiency using modern, scalable web technologies (MERN/MySQL).</a:t>
            </a:r>
            <a:endParaRPr lang="en-US" sz="1350" dirty="0"/>
          </a:p>
        </p:txBody>
      </p:sp>
      <p:sp>
        <p:nvSpPr>
          <p:cNvPr id="20" name="Text 7"/>
          <p:cNvSpPr/>
          <p:nvPr/>
        </p:nvSpPr>
        <p:spPr>
          <a:xfrm>
            <a:off x="7959882" y="3493009"/>
            <a:ext cx="4232118" cy="331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612"/>
              </a:lnSpc>
              <a:buNone/>
            </a:pPr>
            <a:r>
              <a:rPr lang="en-US" sz="2700" b="1" dirty="0">
                <a:solidFill>
                  <a:srgbClr val="002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You!</a:t>
            </a:r>
            <a:endParaRPr lang="en-US" sz="2700" dirty="0"/>
          </a:p>
        </p:txBody>
      </p:sp>
      <p:sp>
        <p:nvSpPr>
          <p:cNvPr id="21" name="Text 8"/>
          <p:cNvSpPr/>
          <p:nvPr/>
        </p:nvSpPr>
        <p:spPr>
          <a:xfrm>
            <a:off x="7619885" y="3957396"/>
            <a:ext cx="4572115" cy="2653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89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22" name="Text 9"/>
          <p:cNvSpPr/>
          <p:nvPr/>
        </p:nvSpPr>
        <p:spPr>
          <a:xfrm>
            <a:off x="7263302" y="4761780"/>
            <a:ext cx="3283879" cy="2321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28"/>
              </a:lnSpc>
              <a:buNone/>
            </a:pPr>
            <a:r>
              <a:rPr lang="en-US" sz="13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"Connecting Givers with Those in Need"</a:t>
            </a:r>
            <a:endParaRPr lang="en-US" sz="1350" dirty="0"/>
          </a:p>
        </p:txBody>
      </p:sp>
      <p:sp>
        <p:nvSpPr>
          <p:cNvPr id="23" name="Text 10"/>
          <p:cNvSpPr/>
          <p:nvPr/>
        </p:nvSpPr>
        <p:spPr>
          <a:xfrm>
            <a:off x="663410" y="6426783"/>
            <a:ext cx="3492224" cy="1658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06"/>
              </a:lnSpc>
              <a:buNone/>
            </a:pPr>
            <a:r>
              <a:rPr lang="en-US" sz="1050" b="1" kern="0" spc="4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SEWAA CAPSTONE</a:t>
            </a:r>
            <a:endParaRPr lang="en-US" sz="1050" dirty="0"/>
          </a:p>
        </p:txBody>
      </p:sp>
      <p:sp>
        <p:nvSpPr>
          <p:cNvPr id="24" name="Text 11"/>
          <p:cNvSpPr/>
          <p:nvPr/>
        </p:nvSpPr>
        <p:spPr>
          <a:xfrm>
            <a:off x="9396450" y="6426783"/>
            <a:ext cx="2795550" cy="1658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06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1242</Words>
  <Application>Microsoft Macintosh PowerPoint</Application>
  <PresentationFormat>Widescreen</PresentationFormat>
  <Paragraphs>257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karki swarnim jung</cp:lastModifiedBy>
  <cp:revision>3</cp:revision>
  <dcterms:created xsi:type="dcterms:W3CDTF">2026-04-14T15:30:10Z</dcterms:created>
  <dcterms:modified xsi:type="dcterms:W3CDTF">2026-04-14T15:34:58Z</dcterms:modified>
</cp:coreProperties>
</file>